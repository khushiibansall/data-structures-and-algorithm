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3640" r:id="rId2"/>
    <p:sldId id="3694" r:id="rId3"/>
    <p:sldId id="3708" r:id="rId4"/>
    <p:sldId id="3710" r:id="rId5"/>
    <p:sldId id="3700" r:id="rId6"/>
    <p:sldId id="262" r:id="rId7"/>
    <p:sldId id="3701" r:id="rId8"/>
    <p:sldId id="264" r:id="rId9"/>
    <p:sldId id="3707" r:id="rId10"/>
    <p:sldId id="3702" r:id="rId11"/>
    <p:sldId id="3706" r:id="rId12"/>
    <p:sldId id="364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keshi Parnami" initials="SP" lastIdx="1" clrIdx="0">
    <p:extLst>
      <p:ext uri="{19B8F6BF-5375-455C-9EA6-DF929625EA0E}">
        <p15:presenceInfo xmlns:p15="http://schemas.microsoft.com/office/powerpoint/2012/main" userId="S::sparnami@upes.ac.in::61686955-4e93-4ddb-a545-ba82f91d1f9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B0FA"/>
    <a:srgbClr val="BF2CFE"/>
    <a:srgbClr val="46B0F9"/>
    <a:srgbClr val="FFFFFF"/>
    <a:srgbClr val="AE36FF"/>
    <a:srgbClr val="4AAEFC"/>
    <a:srgbClr val="434ACF"/>
    <a:srgbClr val="27D4F8"/>
    <a:srgbClr val="D9FF00"/>
    <a:srgbClr val="E0E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6DB840-D024-44E1-8211-A4E476417E72}" v="17" dt="2026-02-11T10:52:24.8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97" autoAdjust="0"/>
    <p:restoredTop sz="96327"/>
  </p:normalViewPr>
  <p:slideViewPr>
    <p:cSldViewPr snapToGrid="0" snapToObjects="1">
      <p:cViewPr>
        <p:scale>
          <a:sx n="76" d="100"/>
          <a:sy n="76" d="100"/>
        </p:scale>
        <p:origin x="168" y="-20"/>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E9D15D-1C13-CC45-BE09-4D54E9A973B4}" type="datetimeFigureOut">
              <a:rPr lang="en-US" smtClean="0"/>
              <a:t>2/11/2026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93A8CF-95A7-924D-878B-183116A25DFA}" type="slidenum">
              <a:rPr lang="en-US" smtClean="0"/>
              <a:t>‹#›</a:t>
            </a:fld>
            <a:endParaRPr lang="en-US" dirty="0"/>
          </a:p>
        </p:txBody>
      </p:sp>
    </p:spTree>
    <p:extLst>
      <p:ext uri="{BB962C8B-B14F-4D97-AF65-F5344CB8AC3E}">
        <p14:creationId xmlns:p14="http://schemas.microsoft.com/office/powerpoint/2010/main" val="3923962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C73FB-2D72-9945-BF45-5347690BBEBB}"/>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D93C615-989D-9D44-8501-FCE01FCEDC63}"/>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A9E5F24-53F9-054C-A9F8-3DCFACAB9877}"/>
              </a:ext>
            </a:extLst>
          </p:cNvPr>
          <p:cNvSpPr>
            <a:spLocks noGrp="1"/>
          </p:cNvSpPr>
          <p:nvPr>
            <p:ph type="dt" sz="half" idx="10"/>
          </p:nvPr>
        </p:nvSpPr>
        <p:spPr>
          <a:xfrm>
            <a:off x="838200" y="6356350"/>
            <a:ext cx="2743200" cy="365125"/>
          </a:xfrm>
          <a:prstGeom prst="rect">
            <a:avLst/>
          </a:prstGeom>
        </p:spPr>
        <p:txBody>
          <a:bodyPr/>
          <a:lstStyle/>
          <a:p>
            <a:fld id="{FD3D9895-3AFC-9E49-BB6B-D5AF81433D95}" type="datetimeFigureOut">
              <a:rPr lang="en-US" smtClean="0"/>
              <a:t>2/11/2026</a:t>
            </a:fld>
            <a:endParaRPr lang="en-US" dirty="0"/>
          </a:p>
        </p:txBody>
      </p:sp>
      <p:sp>
        <p:nvSpPr>
          <p:cNvPr id="5" name="Footer Placeholder 4">
            <a:extLst>
              <a:ext uri="{FF2B5EF4-FFF2-40B4-BE49-F238E27FC236}">
                <a16:creationId xmlns:a16="http://schemas.microsoft.com/office/drawing/2014/main" id="{69BE7FB8-C70E-584A-A086-8852BD639520}"/>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E755C156-1A78-7A4C-AB86-BCA1B1785D83}"/>
              </a:ext>
            </a:extLst>
          </p:cNvPr>
          <p:cNvSpPr>
            <a:spLocks noGrp="1"/>
          </p:cNvSpPr>
          <p:nvPr>
            <p:ph type="sldNum" sz="quarter" idx="12"/>
          </p:nvPr>
        </p:nvSpPr>
        <p:spPr>
          <a:xfrm>
            <a:off x="8610600" y="6356350"/>
            <a:ext cx="2743200" cy="365125"/>
          </a:xfrm>
          <a:prstGeom prst="rect">
            <a:avLst/>
          </a:prstGeom>
        </p:spPr>
        <p:txBody>
          <a:bodyPr/>
          <a:lstStyle/>
          <a:p>
            <a:fld id="{CF45BD75-B1E6-DE4E-8CD3-58B4BE092B5A}" type="slidenum">
              <a:rPr lang="en-US" smtClean="0"/>
              <a:t>‹#›</a:t>
            </a:fld>
            <a:endParaRPr lang="en-US" dirty="0"/>
          </a:p>
        </p:txBody>
      </p:sp>
    </p:spTree>
    <p:extLst>
      <p:ext uri="{BB962C8B-B14F-4D97-AF65-F5344CB8AC3E}">
        <p14:creationId xmlns:p14="http://schemas.microsoft.com/office/powerpoint/2010/main" val="777713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4240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1703F520-AAB7-4D20-958E-A456239933B0}" type="datetimeFigureOut">
              <a:rPr lang="en-US" smtClean="0"/>
              <a:t>2/11/2026</a:t>
            </a:fld>
            <a:endParaRPr lang="en-US" dirty="0"/>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CD3316BF-8A16-4F24-9F8F-9D40354D5A5C}" type="slidenum">
              <a:rPr lang="en-US" smtClean="0"/>
              <a:t>‹#›</a:t>
            </a:fld>
            <a:endParaRPr lang="en-US" dirty="0"/>
          </a:p>
        </p:txBody>
      </p:sp>
    </p:spTree>
    <p:extLst>
      <p:ext uri="{BB962C8B-B14F-4D97-AF65-F5344CB8AC3E}">
        <p14:creationId xmlns:p14="http://schemas.microsoft.com/office/powerpoint/2010/main" val="273734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46AFF9"/>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5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63139917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2C0DC26-5D78-6140-BF89-41378C4365C1}"/>
              </a:ext>
            </a:extLst>
          </p:cNvPr>
          <p:cNvSpPr/>
          <p:nvPr userDrawn="1"/>
        </p:nvSpPr>
        <p:spPr>
          <a:xfrm>
            <a:off x="98853" y="86497"/>
            <a:ext cx="11998411" cy="6685005"/>
          </a:xfrm>
          <a:prstGeom prst="rect">
            <a:avLst/>
          </a:prstGeom>
          <a:noFill/>
          <a:ln w="28575">
            <a:solidFill>
              <a:srgbClr val="46B0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C5EF86C0-A360-484B-B595-7CC69137B538}"/>
              </a:ext>
            </a:extLst>
          </p:cNvPr>
          <p:cNvPicPr>
            <a:picLocks noChangeAspect="1"/>
          </p:cNvPicPr>
          <p:nvPr userDrawn="1"/>
        </p:nvPicPr>
        <p:blipFill rotWithShape="1">
          <a:blip r:embed="rId6"/>
          <a:srcRect t="12813" r="7454"/>
          <a:stretch/>
        </p:blipFill>
        <p:spPr>
          <a:xfrm>
            <a:off x="10718090" y="127821"/>
            <a:ext cx="1336257" cy="540774"/>
          </a:xfrm>
          <a:prstGeom prst="rect">
            <a:avLst/>
          </a:prstGeom>
        </p:spPr>
      </p:pic>
    </p:spTree>
    <p:extLst>
      <p:ext uri="{BB962C8B-B14F-4D97-AF65-F5344CB8AC3E}">
        <p14:creationId xmlns:p14="http://schemas.microsoft.com/office/powerpoint/2010/main" val="2038464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3" Type="http://schemas.openxmlformats.org/officeDocument/2006/relationships/image" Target="../media/image4.png"/><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image" Target="../media/image3.png"/><Relationship Id="rId16" Type="http://schemas.openxmlformats.org/officeDocument/2006/relationships/image" Target="../media/image17.png"/><Relationship Id="rId20"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doi.org/10.1145/3242969.3242985"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E8895C2-828B-934B-8B58-BBC23AD3665A}"/>
              </a:ext>
            </a:extLst>
          </p:cNvPr>
          <p:cNvSpPr/>
          <p:nvPr/>
        </p:nvSpPr>
        <p:spPr>
          <a:xfrm>
            <a:off x="10668000" y="150471"/>
            <a:ext cx="1381246" cy="6829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text, sign, outdoor&#10;&#10;Description automatically generated">
            <a:extLst>
              <a:ext uri="{FF2B5EF4-FFF2-40B4-BE49-F238E27FC236}">
                <a16:creationId xmlns:a16="http://schemas.microsoft.com/office/drawing/2014/main" id="{35C12C04-5CEF-8448-B70C-56FE6AD03CE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04829" y="126108"/>
            <a:ext cx="876170" cy="1491678"/>
          </a:xfrm>
          <a:prstGeom prst="rect">
            <a:avLst/>
          </a:prstGeom>
        </p:spPr>
      </p:pic>
      <p:pic>
        <p:nvPicPr>
          <p:cNvPr id="5" name="Picture 4" descr="A picture containing text, clipart&#10;&#10;Description automatically generated">
            <a:extLst>
              <a:ext uri="{FF2B5EF4-FFF2-40B4-BE49-F238E27FC236}">
                <a16:creationId xmlns:a16="http://schemas.microsoft.com/office/drawing/2014/main" id="{2F2F3CE5-A64B-4B6C-9275-01E87181FAAF}"/>
              </a:ext>
            </a:extLst>
          </p:cNvPr>
          <p:cNvPicPr>
            <a:picLocks noChangeAspect="1"/>
          </p:cNvPicPr>
          <p:nvPr/>
        </p:nvPicPr>
        <p:blipFill>
          <a:blip r:embed="rId3"/>
          <a:stretch>
            <a:fillRect/>
          </a:stretch>
        </p:blipFill>
        <p:spPr>
          <a:xfrm>
            <a:off x="7485017" y="143688"/>
            <a:ext cx="4564228" cy="1474098"/>
          </a:xfrm>
          <a:prstGeom prst="rect">
            <a:avLst/>
          </a:prstGeom>
        </p:spPr>
      </p:pic>
      <p:sp>
        <p:nvSpPr>
          <p:cNvPr id="2" name="TextBox 1"/>
          <p:cNvSpPr txBox="1"/>
          <p:nvPr/>
        </p:nvSpPr>
        <p:spPr>
          <a:xfrm>
            <a:off x="2745377" y="1795623"/>
            <a:ext cx="6701245" cy="923330"/>
          </a:xfrm>
          <a:prstGeom prst="rect">
            <a:avLst/>
          </a:prstGeom>
          <a:noFill/>
        </p:spPr>
        <p:txBody>
          <a:bodyPr wrap="square" rtlCol="0">
            <a:spAutoFit/>
          </a:bodyPr>
          <a:lstStyle/>
          <a:p>
            <a:pPr algn="ctr"/>
            <a:r>
              <a:rPr lang="en-IN" sz="5400" dirty="0">
                <a:latin typeface="Times New Roman" panose="02020603050405020304" pitchFamily="18" charset="0"/>
                <a:cs typeface="Times New Roman" panose="02020603050405020304" pitchFamily="18" charset="0"/>
              </a:rPr>
              <a:t>Major Project</a:t>
            </a:r>
          </a:p>
        </p:txBody>
      </p:sp>
      <p:sp>
        <p:nvSpPr>
          <p:cNvPr id="4" name="TextBox 3"/>
          <p:cNvSpPr txBox="1"/>
          <p:nvPr/>
        </p:nvSpPr>
        <p:spPr>
          <a:xfrm>
            <a:off x="1180999" y="3014479"/>
            <a:ext cx="9948555" cy="1077218"/>
          </a:xfrm>
          <a:prstGeom prst="rect">
            <a:avLst/>
          </a:prstGeom>
          <a:noFill/>
        </p:spPr>
        <p:txBody>
          <a:bodyPr wrap="square" rtlCol="0">
            <a:spAutoFit/>
          </a:bodyPr>
          <a:lstStyle/>
          <a:p>
            <a:pPr algn="ctr"/>
            <a:r>
              <a:rPr lang="en-US" sz="3200" dirty="0" err="1">
                <a:latin typeface="Times New Roman" panose="02020603050405020304" pitchFamily="18" charset="0"/>
                <a:cs typeface="Times New Roman" panose="02020603050405020304" pitchFamily="18" charset="0"/>
              </a:rPr>
              <a:t>CodeOptimizer</a:t>
            </a:r>
            <a:r>
              <a:rPr lang="en-US" sz="3200" dirty="0">
                <a:latin typeface="Times New Roman" panose="02020603050405020304" pitchFamily="18" charset="0"/>
                <a:cs typeface="Times New Roman" panose="02020603050405020304" pitchFamily="18" charset="0"/>
              </a:rPr>
              <a:t> : An AI-Powered GitHub Code Analysis &amp; Optimization Tool</a:t>
            </a:r>
            <a:endParaRPr lang="en-IN" sz="32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304829" y="4910741"/>
            <a:ext cx="3273830" cy="1477328"/>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Presented by:</a:t>
            </a:r>
          </a:p>
          <a:p>
            <a:r>
              <a:rPr lang="en-IN" dirty="0">
                <a:latin typeface="Times New Roman" panose="02020603050405020304" pitchFamily="18" charset="0"/>
                <a:cs typeface="Times New Roman" panose="02020603050405020304" pitchFamily="18" charset="0"/>
              </a:rPr>
              <a:t>R2142220779  - Atishay Jain</a:t>
            </a:r>
          </a:p>
          <a:p>
            <a:r>
              <a:rPr lang="en-IN" dirty="0">
                <a:latin typeface="Times New Roman" panose="02020603050405020304" pitchFamily="18" charset="0"/>
                <a:cs typeface="Times New Roman" panose="02020603050405020304" pitchFamily="18" charset="0"/>
              </a:rPr>
              <a:t>R2142220756  - Shikhar Bhakuni</a:t>
            </a:r>
          </a:p>
          <a:p>
            <a:r>
              <a:rPr lang="en-IN" dirty="0">
                <a:latin typeface="Times New Roman" panose="02020603050405020304" pitchFamily="18" charset="0"/>
                <a:cs typeface="Times New Roman" panose="02020603050405020304" pitchFamily="18" charset="0"/>
              </a:rPr>
              <a:t>R2142220543  - Khushi Bansal</a:t>
            </a:r>
          </a:p>
          <a:p>
            <a:r>
              <a:rPr lang="en-IN" dirty="0">
                <a:latin typeface="Times New Roman" panose="02020603050405020304" pitchFamily="18" charset="0"/>
                <a:cs typeface="Times New Roman" panose="02020603050405020304" pitchFamily="18" charset="0"/>
              </a:rPr>
              <a:t>R2142221226  - Khushi Bansal</a:t>
            </a:r>
          </a:p>
        </p:txBody>
      </p:sp>
      <p:sp>
        <p:nvSpPr>
          <p:cNvPr id="9" name="TextBox 8"/>
          <p:cNvSpPr txBox="1"/>
          <p:nvPr/>
        </p:nvSpPr>
        <p:spPr>
          <a:xfrm>
            <a:off x="8882743" y="5003074"/>
            <a:ext cx="2717074"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Mentored By:</a:t>
            </a:r>
          </a:p>
          <a:p>
            <a:r>
              <a:rPr lang="en-IN" dirty="0" err="1">
                <a:latin typeface="Times New Roman" panose="02020603050405020304" pitchFamily="18" charset="0"/>
                <a:cs typeface="Times New Roman" panose="02020603050405020304" pitchFamily="18" charset="0"/>
              </a:rPr>
              <a:t>Dr.</a:t>
            </a:r>
            <a:r>
              <a:rPr lang="en-IN" dirty="0">
                <a:latin typeface="Times New Roman" panose="02020603050405020304" pitchFamily="18" charset="0"/>
                <a:cs typeface="Times New Roman" panose="02020603050405020304" pitchFamily="18" charset="0"/>
              </a:rPr>
              <a:t> Rahul Kumar Singh</a:t>
            </a:r>
          </a:p>
        </p:txBody>
      </p:sp>
    </p:spTree>
    <p:extLst>
      <p:ext uri="{BB962C8B-B14F-4D97-AF65-F5344CB8AC3E}">
        <p14:creationId xmlns:p14="http://schemas.microsoft.com/office/powerpoint/2010/main" val="1627799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48626"/>
            <a:ext cx="7530363" cy="584775"/>
          </a:xfrm>
          <a:prstGeom prst="rect">
            <a:avLst/>
          </a:prstGeom>
          <a:noFill/>
        </p:spPr>
        <p:txBody>
          <a:bodyPr wrap="square" rtlCol="0">
            <a:spAutoFit/>
          </a:bodyPr>
          <a:lstStyle/>
          <a:p>
            <a:r>
              <a:rPr lang="en-US" sz="3200" b="1" dirty="0">
                <a:solidFill>
                  <a:srgbClr val="46B0FA"/>
                </a:solidFill>
                <a:latin typeface="Times New Roman" panose="02020603050405020304" pitchFamily="18" charset="0"/>
                <a:cs typeface="Times New Roman" panose="02020603050405020304" pitchFamily="18" charset="0"/>
              </a:rPr>
              <a:t>Content</a:t>
            </a:r>
            <a:endParaRPr lang="en-IN" sz="3200" b="1" dirty="0">
              <a:solidFill>
                <a:srgbClr val="46B0FA"/>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6168532-D141-4AB0-BD29-1663F2877B3E}"/>
              </a:ext>
            </a:extLst>
          </p:cNvPr>
          <p:cNvSpPr txBox="1"/>
          <p:nvPr/>
        </p:nvSpPr>
        <p:spPr>
          <a:xfrm>
            <a:off x="1071154" y="1247350"/>
            <a:ext cx="4650377" cy="3139321"/>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Introduction</a:t>
            </a: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Literature Review</a:t>
            </a: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Objectives</a:t>
            </a: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Methodology</a:t>
            </a: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References </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9729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87713" y="177819"/>
            <a:ext cx="2575154" cy="584775"/>
          </a:xfrm>
          <a:prstGeom prst="rect">
            <a:avLst/>
          </a:prstGeom>
          <a:noFill/>
        </p:spPr>
        <p:txBody>
          <a:bodyPr wrap="square" rtlCol="0">
            <a:spAutoFit/>
          </a:bodyPr>
          <a:lstStyle/>
          <a:p>
            <a:pPr algn="ctr"/>
            <a:r>
              <a:rPr lang="en-US" sz="3200" b="1" dirty="0">
                <a:solidFill>
                  <a:srgbClr val="46B0FA"/>
                </a:solidFill>
                <a:latin typeface="Times New Roman" panose="02020603050405020304" pitchFamily="18" charset="0"/>
                <a:cs typeface="Times New Roman" panose="02020603050405020304" pitchFamily="18" charset="0"/>
              </a:rPr>
              <a:t>Introduction</a:t>
            </a:r>
            <a:endParaRPr lang="en-IN" sz="3200" b="1" dirty="0">
              <a:solidFill>
                <a:srgbClr val="46B0FA"/>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E0F72DF-824D-3786-B766-49F7D2F2DDEB}"/>
              </a:ext>
            </a:extLst>
          </p:cNvPr>
          <p:cNvSpPr txBox="1"/>
          <p:nvPr/>
        </p:nvSpPr>
        <p:spPr>
          <a:xfrm>
            <a:off x="262038" y="1164344"/>
            <a:ext cx="11781944" cy="2535566"/>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Wearable devices generate large amounts of physiological data such as heart activity, electrodermal activity, and motion signals. These signals can be used to detect affective states like stress, baseline (neutral), and amusement.</a:t>
            </a:r>
          </a:p>
          <a:p>
            <a:pPr algn="just">
              <a:lnSpc>
                <a:spcPct val="150000"/>
              </a:lnSpc>
            </a:pPr>
            <a:r>
              <a:rPr lang="en-US" dirty="0">
                <a:latin typeface="Times New Roman" panose="02020603050405020304" pitchFamily="18" charset="0"/>
                <a:cs typeface="Times New Roman" panose="02020603050405020304" pitchFamily="18" charset="0"/>
              </a:rPr>
              <a:t>However, traditional machine learning models require centralizing raw user data, which raises serious privacy concerns.</a:t>
            </a:r>
          </a:p>
          <a:p>
            <a:pPr algn="just">
              <a:lnSpc>
                <a:spcPct val="150000"/>
              </a:lnSpc>
            </a:pPr>
            <a:r>
              <a:rPr lang="en-US" dirty="0">
                <a:latin typeface="Times New Roman" panose="02020603050405020304" pitchFamily="18" charset="0"/>
                <a:cs typeface="Times New Roman" panose="02020603050405020304" pitchFamily="18" charset="0"/>
              </a:rPr>
              <a:t>Additionally, most deep learning models act as black boxes, making it difficult to understand how decisions are made.</a:t>
            </a:r>
          </a:p>
          <a:p>
            <a:pPr algn="just">
              <a:lnSpc>
                <a:spcPct val="150000"/>
              </a:lnSpc>
            </a:pPr>
            <a:r>
              <a:rPr lang="en-US" dirty="0">
                <a:latin typeface="Times New Roman" panose="02020603050405020304" pitchFamily="18" charset="0"/>
                <a:cs typeface="Times New Roman" panose="02020603050405020304" pitchFamily="18" charset="0"/>
              </a:rPr>
              <a:t>Therefore, there is a need for a system that can detect affective states accurately while preserving user privacy and ensuring interpretability</a:t>
            </a:r>
          </a:p>
        </p:txBody>
      </p:sp>
      <p:sp>
        <p:nvSpPr>
          <p:cNvPr id="11" name="TextBox 10">
            <a:extLst>
              <a:ext uri="{FF2B5EF4-FFF2-40B4-BE49-F238E27FC236}">
                <a16:creationId xmlns:a16="http://schemas.microsoft.com/office/drawing/2014/main" id="{BB2A1B57-E061-0F5D-3338-FD2175D751FD}"/>
              </a:ext>
            </a:extLst>
          </p:cNvPr>
          <p:cNvSpPr txBox="1"/>
          <p:nvPr/>
        </p:nvSpPr>
        <p:spPr>
          <a:xfrm>
            <a:off x="262038" y="4140714"/>
            <a:ext cx="11667924" cy="2535566"/>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Physiological signals are highly sensitive and personal in nature.</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Sharing raw </a:t>
            </a:r>
            <a:r>
              <a:rPr lang="en-US" dirty="0" err="1">
                <a:latin typeface="Times New Roman" panose="02020603050405020304" pitchFamily="18" charset="0"/>
                <a:cs typeface="Times New Roman" panose="02020603050405020304" pitchFamily="18" charset="0"/>
              </a:rPr>
              <a:t>biosignals</a:t>
            </a:r>
            <a:r>
              <a:rPr lang="en-US" dirty="0">
                <a:latin typeface="Times New Roman" panose="02020603050405020304" pitchFamily="18" charset="0"/>
                <a:cs typeface="Times New Roman" panose="02020603050405020304" pitchFamily="18" charset="0"/>
              </a:rPr>
              <a:t> to a central server may lead to data misuse or privacy violations.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Individuals exhibit different physiological patterns, making centralized modeling challenging.</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There is increasing demand for privacy-aware AI solutions in healthcare and wearable technology.</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Integrating federated learning with explainable AI can create a trustworthy and privacy-preserving affect detection system.</a:t>
            </a:r>
            <a:endParaRPr lang="en-GB"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342DF82-270F-E9A3-EB5C-242C069C4272}"/>
              </a:ext>
            </a:extLst>
          </p:cNvPr>
          <p:cNvSpPr txBox="1"/>
          <p:nvPr/>
        </p:nvSpPr>
        <p:spPr>
          <a:xfrm>
            <a:off x="262038" y="640583"/>
            <a:ext cx="2901082" cy="579967"/>
          </a:xfrm>
          <a:prstGeom prst="rect">
            <a:avLst/>
          </a:prstGeom>
          <a:noFill/>
        </p:spPr>
        <p:txBody>
          <a:bodyPr wrap="square" rtlCol="0">
            <a:spAutoFit/>
          </a:bodyPr>
          <a:lstStyle/>
          <a:p>
            <a:pPr algn="just">
              <a:lnSpc>
                <a:spcPct val="150000"/>
              </a:lnSpc>
            </a:pPr>
            <a:r>
              <a:rPr lang="en-GB" sz="2400" b="1" dirty="0">
                <a:solidFill>
                  <a:srgbClr val="FF0000"/>
                </a:solidFill>
                <a:latin typeface="Times New Roman" panose="02020603050405020304" pitchFamily="18" charset="0"/>
                <a:cs typeface="Times New Roman" panose="02020603050405020304" pitchFamily="18" charset="0"/>
              </a:rPr>
              <a:t>Problem Statement:</a:t>
            </a:r>
          </a:p>
        </p:txBody>
      </p:sp>
      <p:sp>
        <p:nvSpPr>
          <p:cNvPr id="4" name="TextBox 3">
            <a:extLst>
              <a:ext uri="{FF2B5EF4-FFF2-40B4-BE49-F238E27FC236}">
                <a16:creationId xmlns:a16="http://schemas.microsoft.com/office/drawing/2014/main" id="{A505F690-1A2B-B432-A165-99A665C4AD7F}"/>
              </a:ext>
            </a:extLst>
          </p:cNvPr>
          <p:cNvSpPr txBox="1"/>
          <p:nvPr/>
        </p:nvSpPr>
        <p:spPr>
          <a:xfrm>
            <a:off x="262038" y="3643704"/>
            <a:ext cx="1748762" cy="579967"/>
          </a:xfrm>
          <a:prstGeom prst="rect">
            <a:avLst/>
          </a:prstGeom>
          <a:noFill/>
        </p:spPr>
        <p:txBody>
          <a:bodyPr wrap="square" rtlCol="0">
            <a:spAutoFit/>
          </a:bodyPr>
          <a:lstStyle/>
          <a:p>
            <a:pPr algn="just">
              <a:lnSpc>
                <a:spcPct val="150000"/>
              </a:lnSpc>
            </a:pPr>
            <a:r>
              <a:rPr lang="en-GB" sz="2400" b="1" dirty="0">
                <a:solidFill>
                  <a:srgbClr val="FF0000"/>
                </a:solidFill>
                <a:latin typeface="Times New Roman" panose="02020603050405020304" pitchFamily="18" charset="0"/>
                <a:cs typeface="Times New Roman" panose="02020603050405020304" pitchFamily="18" charset="0"/>
              </a:rPr>
              <a:t>Motivation:</a:t>
            </a:r>
          </a:p>
        </p:txBody>
      </p:sp>
    </p:spTree>
    <p:extLst>
      <p:ext uri="{BB962C8B-B14F-4D97-AF65-F5344CB8AC3E}">
        <p14:creationId xmlns:p14="http://schemas.microsoft.com/office/powerpoint/2010/main" val="3952024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CA118-7818-FBA4-97A9-655C4A5A115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922A612-E4A6-7D82-2CBD-965649E68207}"/>
              </a:ext>
            </a:extLst>
          </p:cNvPr>
          <p:cNvSpPr txBox="1"/>
          <p:nvPr/>
        </p:nvSpPr>
        <p:spPr>
          <a:xfrm>
            <a:off x="145822" y="746527"/>
            <a:ext cx="11900355" cy="253556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Time-Series Preprocessing: </a:t>
            </a:r>
            <a:r>
              <a:rPr lang="en-US" dirty="0">
                <a:latin typeface="Times New Roman" panose="02020603050405020304" pitchFamily="18" charset="0"/>
                <a:cs typeface="Times New Roman" panose="02020603050405020304" pitchFamily="18" charset="0"/>
              </a:rPr>
              <a:t>Filtering and segmenting physiological signals into fixed-length windows</a:t>
            </a:r>
            <a:r>
              <a:rPr lang="en-US" b="1" dirty="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Autoencoders: </a:t>
            </a:r>
            <a:r>
              <a:rPr lang="en-US" dirty="0">
                <a:latin typeface="Times New Roman" panose="02020603050405020304" pitchFamily="18" charset="0"/>
                <a:cs typeface="Times New Roman" panose="02020603050405020304" pitchFamily="18" charset="0"/>
              </a:rPr>
              <a:t>Used for learning compact latent representations of high-dimensional </a:t>
            </a:r>
            <a:r>
              <a:rPr lang="en-US" dirty="0" err="1">
                <a:latin typeface="Times New Roman" panose="02020603050405020304" pitchFamily="18" charset="0"/>
                <a:cs typeface="Times New Roman" panose="02020603050405020304" pitchFamily="18" charset="0"/>
              </a:rPr>
              <a:t>biosignals</a:t>
            </a:r>
            <a:r>
              <a:rPr lang="en-US" dirty="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Deep Neural Networks (CNN/MLP): </a:t>
            </a:r>
            <a:r>
              <a:rPr lang="en-US" dirty="0">
                <a:latin typeface="Times New Roman" panose="02020603050405020304" pitchFamily="18" charset="0"/>
                <a:cs typeface="Times New Roman" panose="02020603050405020304" pitchFamily="18" charset="0"/>
              </a:rPr>
              <a:t>Used for classification of affective states.</a:t>
            </a:r>
          </a:p>
          <a:p>
            <a:pPr marL="285750" indent="-285750" algn="just">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Federated Learning (</a:t>
            </a:r>
            <a:r>
              <a:rPr lang="en-US" b="1" dirty="0" err="1">
                <a:latin typeface="Times New Roman" panose="02020603050405020304" pitchFamily="18" charset="0"/>
                <a:cs typeface="Times New Roman" panose="02020603050405020304" pitchFamily="18" charset="0"/>
              </a:rPr>
              <a:t>FedAvg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FedProx</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Enables collaborative training without sharing raw data.</a:t>
            </a:r>
          </a:p>
          <a:p>
            <a:pPr marL="285750" indent="-285750" algn="just">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Explainable AI (SHAP, Integrated Gradients, Saliency Maps): </a:t>
            </a:r>
            <a:r>
              <a:rPr lang="en-US" dirty="0">
                <a:latin typeface="Times New Roman" panose="02020603050405020304" pitchFamily="18" charset="0"/>
                <a:cs typeface="Times New Roman" panose="02020603050405020304" pitchFamily="18" charset="0"/>
              </a:rPr>
              <a:t>Used to interpret model predictions.</a:t>
            </a:r>
          </a:p>
          <a:p>
            <a:pPr marL="285750" indent="-285750" algn="just">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Differential Privacy: </a:t>
            </a:r>
            <a:r>
              <a:rPr lang="en-US" dirty="0">
                <a:latin typeface="Times New Roman" panose="02020603050405020304" pitchFamily="18" charset="0"/>
                <a:cs typeface="Times New Roman" panose="02020603050405020304" pitchFamily="18" charset="0"/>
              </a:rPr>
              <a:t>Adds controlled noise to shared explanations to protect sensitive information.</a:t>
            </a:r>
          </a:p>
        </p:txBody>
      </p:sp>
      <p:sp>
        <p:nvSpPr>
          <p:cNvPr id="10" name="TextBox 9">
            <a:extLst>
              <a:ext uri="{FF2B5EF4-FFF2-40B4-BE49-F238E27FC236}">
                <a16:creationId xmlns:a16="http://schemas.microsoft.com/office/drawing/2014/main" id="{A5C776A6-5F2C-2947-5E6E-E071FF22A7AE}"/>
              </a:ext>
            </a:extLst>
          </p:cNvPr>
          <p:cNvSpPr txBox="1"/>
          <p:nvPr/>
        </p:nvSpPr>
        <p:spPr>
          <a:xfrm>
            <a:off x="145821" y="3992804"/>
            <a:ext cx="11985875" cy="2535566"/>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Mental health monitoring systems.</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Stress detection in workplaces.</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Remote healthcare and telemedicine.</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Wearable fitness and wellness devices.</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Human-computer interaction systems.</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Personalized health analytics platforms</a:t>
            </a:r>
            <a:endParaRPr lang="en-GB" sz="1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27B4F5E-A2E9-E54B-BAF3-5E2D7F6DD490}"/>
              </a:ext>
            </a:extLst>
          </p:cNvPr>
          <p:cNvSpPr txBox="1"/>
          <p:nvPr/>
        </p:nvSpPr>
        <p:spPr>
          <a:xfrm>
            <a:off x="145821" y="304077"/>
            <a:ext cx="5242998" cy="461665"/>
          </a:xfrm>
          <a:prstGeom prst="rect">
            <a:avLst/>
          </a:prstGeom>
          <a:noFill/>
        </p:spPr>
        <p:txBody>
          <a:bodyPr wrap="square" rtlCol="0">
            <a:spAutoFit/>
          </a:bodyPr>
          <a:lstStyle/>
          <a:p>
            <a:r>
              <a:rPr lang="en-US" sz="2400" b="1" dirty="0">
                <a:solidFill>
                  <a:srgbClr val="FF0000"/>
                </a:solidFill>
                <a:latin typeface="Times New Roman" panose="02020603050405020304" pitchFamily="18" charset="0"/>
                <a:cs typeface="Times New Roman" panose="02020603050405020304" pitchFamily="18" charset="0"/>
              </a:rPr>
              <a:t>Technical Concepts(Algorithms) Used:</a:t>
            </a:r>
          </a:p>
        </p:txBody>
      </p:sp>
      <p:sp>
        <p:nvSpPr>
          <p:cNvPr id="3" name="TextBox 2">
            <a:extLst>
              <a:ext uri="{FF2B5EF4-FFF2-40B4-BE49-F238E27FC236}">
                <a16:creationId xmlns:a16="http://schemas.microsoft.com/office/drawing/2014/main" id="{86F16489-950E-EA41-4D8A-B531BC47F29F}"/>
              </a:ext>
            </a:extLst>
          </p:cNvPr>
          <p:cNvSpPr txBox="1"/>
          <p:nvPr/>
        </p:nvSpPr>
        <p:spPr>
          <a:xfrm>
            <a:off x="145821" y="3493710"/>
            <a:ext cx="3022252" cy="461665"/>
          </a:xfrm>
          <a:prstGeom prst="rect">
            <a:avLst/>
          </a:prstGeom>
          <a:noFill/>
        </p:spPr>
        <p:txBody>
          <a:bodyPr wrap="square" rtlCol="0">
            <a:spAutoFit/>
          </a:bodyPr>
          <a:lstStyle/>
          <a:p>
            <a:r>
              <a:rPr lang="en-GB" sz="2400" b="1" dirty="0">
                <a:solidFill>
                  <a:srgbClr val="FF0000"/>
                </a:solidFill>
                <a:latin typeface="Times New Roman" panose="02020603050405020304" pitchFamily="18" charset="0"/>
                <a:cs typeface="Times New Roman" panose="02020603050405020304" pitchFamily="18" charset="0"/>
              </a:rPr>
              <a:t>Area of Application: </a:t>
            </a:r>
          </a:p>
        </p:txBody>
      </p:sp>
    </p:spTree>
    <p:extLst>
      <p:ext uri="{BB962C8B-B14F-4D97-AF65-F5344CB8AC3E}">
        <p14:creationId xmlns:p14="http://schemas.microsoft.com/office/powerpoint/2010/main" val="2306554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234487" y="248626"/>
            <a:ext cx="3574417" cy="584775"/>
          </a:xfrm>
          <a:prstGeom prst="rect">
            <a:avLst/>
          </a:prstGeom>
          <a:noFill/>
        </p:spPr>
        <p:txBody>
          <a:bodyPr wrap="square" rtlCol="0">
            <a:spAutoFit/>
          </a:bodyPr>
          <a:lstStyle/>
          <a:p>
            <a:r>
              <a:rPr lang="en-US" sz="3200" b="1" dirty="0">
                <a:solidFill>
                  <a:srgbClr val="46B0FA"/>
                </a:solidFill>
                <a:latin typeface="Times New Roman" panose="02020603050405020304" pitchFamily="18" charset="0"/>
                <a:cs typeface="Times New Roman" panose="02020603050405020304" pitchFamily="18" charset="0"/>
              </a:rPr>
              <a:t>Literature Review</a:t>
            </a:r>
          </a:p>
        </p:txBody>
      </p:sp>
      <p:sp>
        <p:nvSpPr>
          <p:cNvPr id="10" name="TextBox 9">
            <a:extLst>
              <a:ext uri="{FF2B5EF4-FFF2-40B4-BE49-F238E27FC236}">
                <a16:creationId xmlns:a16="http://schemas.microsoft.com/office/drawing/2014/main" id="{9102DDE6-C90B-E019-A136-45FED43B0B74}"/>
              </a:ext>
            </a:extLst>
          </p:cNvPr>
          <p:cNvSpPr txBox="1"/>
          <p:nvPr/>
        </p:nvSpPr>
        <p:spPr>
          <a:xfrm>
            <a:off x="335560" y="1299401"/>
            <a:ext cx="11392249" cy="5028556"/>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Schmidt et al. (2018) introduced the WESAD dataset, a multimodal wearable dataset specifically designed for stress and affect detection using physiological signals. Their work provided synchronized chest and wrist sensor recordings including ECG, EDA, respiration, and motion signals under controlled baseline, stress, and amusement conditions. This dataset established a standardized benchmark for wearable-based affect recognition and has been widely adopted in stress detection research.</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McMahan et al. (2017) proposed Federated Learning through the </a:t>
            </a:r>
            <a:r>
              <a:rPr lang="en-US" dirty="0" err="1">
                <a:latin typeface="Times New Roman" panose="02020603050405020304" pitchFamily="18" charset="0"/>
                <a:cs typeface="Times New Roman" panose="02020603050405020304" pitchFamily="18" charset="0"/>
              </a:rPr>
              <a:t>FedAvg</a:t>
            </a:r>
            <a:r>
              <a:rPr lang="en-US" dirty="0">
                <a:latin typeface="Times New Roman" panose="02020603050405020304" pitchFamily="18" charset="0"/>
                <a:cs typeface="Times New Roman" panose="02020603050405020304" pitchFamily="18" charset="0"/>
              </a:rPr>
              <a:t> algorithm, introducing a decentralized training paradigm where multiple clients collaboratively train a global model without sharing raw data. Their approach significantly reduced privacy risks while maintaining competitive performance compared to centralized models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 et al. (2020) introduced </a:t>
            </a:r>
            <a:r>
              <a:rPr lang="en-US" dirty="0" err="1">
                <a:latin typeface="Times New Roman" panose="02020603050405020304" pitchFamily="18" charset="0"/>
                <a:cs typeface="Times New Roman" panose="02020603050405020304" pitchFamily="18" charset="0"/>
              </a:rPr>
              <a:t>FedProx</a:t>
            </a:r>
            <a:r>
              <a:rPr lang="en-US" dirty="0">
                <a:latin typeface="Times New Roman" panose="02020603050405020304" pitchFamily="18" charset="0"/>
                <a:cs typeface="Times New Roman" panose="02020603050405020304" pitchFamily="18" charset="0"/>
              </a:rPr>
              <a:t>, an extension of federated optimization designed to handle statistical heterogeneity (non-IID data) across clients. Their method incorporated a proximal term in the loss function to stabilize local updates and reduce client drift during training. This advancement addressed one of the major challenges in federated learning environments where user data distributions vary significantly.</a:t>
            </a:r>
          </a:p>
        </p:txBody>
      </p:sp>
      <p:sp>
        <p:nvSpPr>
          <p:cNvPr id="20" name="object 3">
            <a:extLst>
              <a:ext uri="{FF2B5EF4-FFF2-40B4-BE49-F238E27FC236}">
                <a16:creationId xmlns:a16="http://schemas.microsoft.com/office/drawing/2014/main" id="{0F59DA57-8AA7-33E6-706C-7AE3A15971B7}"/>
              </a:ext>
            </a:extLst>
          </p:cNvPr>
          <p:cNvSpPr txBox="1"/>
          <p:nvPr/>
        </p:nvSpPr>
        <p:spPr>
          <a:xfrm>
            <a:off x="555181" y="759510"/>
            <a:ext cx="2548238" cy="539891"/>
          </a:xfrm>
          <a:prstGeom prst="rect">
            <a:avLst/>
          </a:prstGeom>
        </p:spPr>
        <p:txBody>
          <a:bodyPr vert="horz" wrap="square" lIns="0" tIns="168910" rIns="0" bIns="0" rtlCol="0">
            <a:spAutoFit/>
          </a:bodyPr>
          <a:lstStyle/>
          <a:p>
            <a:pPr marL="12700" algn="ctr">
              <a:lnSpc>
                <a:spcPct val="100000"/>
              </a:lnSpc>
              <a:spcBef>
                <a:spcPts val="1330"/>
              </a:spcBef>
            </a:pPr>
            <a:r>
              <a:rPr sz="2400" b="1" dirty="0">
                <a:solidFill>
                  <a:srgbClr val="FF0000"/>
                </a:solidFill>
                <a:latin typeface="Times New Roman"/>
                <a:cs typeface="Times New Roman"/>
              </a:rPr>
              <a:t>Cite</a:t>
            </a:r>
            <a:r>
              <a:rPr sz="2400" b="1" spc="-20" dirty="0">
                <a:solidFill>
                  <a:srgbClr val="FF0000"/>
                </a:solidFill>
                <a:latin typeface="Times New Roman"/>
                <a:cs typeface="Times New Roman"/>
              </a:rPr>
              <a:t> </a:t>
            </a:r>
            <a:r>
              <a:rPr sz="2400" b="1" dirty="0">
                <a:solidFill>
                  <a:srgbClr val="FF0000"/>
                </a:solidFill>
                <a:latin typeface="Times New Roman"/>
                <a:cs typeface="Times New Roman"/>
              </a:rPr>
              <a:t>Related</a:t>
            </a:r>
            <a:r>
              <a:rPr sz="2400" b="1" spc="-15" dirty="0">
                <a:solidFill>
                  <a:srgbClr val="FF0000"/>
                </a:solidFill>
                <a:latin typeface="Times New Roman"/>
                <a:cs typeface="Times New Roman"/>
              </a:rPr>
              <a:t> </a:t>
            </a:r>
            <a:r>
              <a:rPr lang="en-IN" sz="2400" b="1" spc="-20" dirty="0">
                <a:solidFill>
                  <a:srgbClr val="FF0000"/>
                </a:solidFill>
                <a:latin typeface="Times New Roman"/>
                <a:cs typeface="Times New Roman"/>
              </a:rPr>
              <a:t>Work</a:t>
            </a:r>
            <a:endParaRPr sz="2400" dirty="0">
              <a:latin typeface="Times New Roman"/>
              <a:cs typeface="Times New Roman"/>
            </a:endParaRPr>
          </a:p>
        </p:txBody>
      </p:sp>
    </p:spTree>
    <p:extLst>
      <p:ext uri="{BB962C8B-B14F-4D97-AF65-F5344CB8AC3E}">
        <p14:creationId xmlns:p14="http://schemas.microsoft.com/office/powerpoint/2010/main" val="2507963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22859" y="391414"/>
            <a:ext cx="2254557" cy="382156"/>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0000"/>
                </a:solidFill>
                <a:latin typeface="Times New Roman"/>
                <a:cs typeface="Times New Roman"/>
              </a:rPr>
              <a:t>SWOT</a:t>
            </a:r>
            <a:r>
              <a:rPr sz="2400" b="1" spc="-140" dirty="0">
                <a:solidFill>
                  <a:srgbClr val="FF0000"/>
                </a:solidFill>
                <a:latin typeface="Times New Roman"/>
                <a:cs typeface="Times New Roman"/>
              </a:rPr>
              <a:t> </a:t>
            </a:r>
            <a:r>
              <a:rPr sz="2400" b="1" spc="-10" dirty="0">
                <a:solidFill>
                  <a:srgbClr val="FF0000"/>
                </a:solidFill>
                <a:latin typeface="Times New Roman"/>
                <a:cs typeface="Times New Roman"/>
              </a:rPr>
              <a:t>Analysis:</a:t>
            </a:r>
            <a:endParaRPr sz="2400" dirty="0">
              <a:latin typeface="Times New Roman"/>
              <a:cs typeface="Times New Roman"/>
            </a:endParaRPr>
          </a:p>
        </p:txBody>
      </p:sp>
      <p:grpSp>
        <p:nvGrpSpPr>
          <p:cNvPr id="3" name="object 3"/>
          <p:cNvGrpSpPr/>
          <p:nvPr/>
        </p:nvGrpSpPr>
        <p:grpSpPr>
          <a:xfrm>
            <a:off x="6336184" y="1013459"/>
            <a:ext cx="2385695" cy="5218430"/>
            <a:chOff x="6327642" y="984491"/>
            <a:chExt cx="2385695" cy="5218430"/>
          </a:xfrm>
        </p:grpSpPr>
        <p:pic>
          <p:nvPicPr>
            <p:cNvPr id="4" name="object 4"/>
            <p:cNvPicPr/>
            <p:nvPr/>
          </p:nvPicPr>
          <p:blipFill>
            <a:blip r:embed="rId2" cstate="print"/>
            <a:stretch>
              <a:fillRect/>
            </a:stretch>
          </p:blipFill>
          <p:spPr>
            <a:xfrm>
              <a:off x="6327642" y="1522470"/>
              <a:ext cx="2385071" cy="4680212"/>
            </a:xfrm>
            <a:prstGeom prst="rect">
              <a:avLst/>
            </a:prstGeom>
          </p:spPr>
        </p:pic>
        <p:pic>
          <p:nvPicPr>
            <p:cNvPr id="5" name="object 5"/>
            <p:cNvPicPr/>
            <p:nvPr/>
          </p:nvPicPr>
          <p:blipFill>
            <a:blip r:embed="rId3" cstate="print"/>
            <a:stretch>
              <a:fillRect/>
            </a:stretch>
          </p:blipFill>
          <p:spPr>
            <a:xfrm>
              <a:off x="6371843" y="1519427"/>
              <a:ext cx="2301240" cy="4605528"/>
            </a:xfrm>
            <a:prstGeom prst="rect">
              <a:avLst/>
            </a:prstGeom>
          </p:spPr>
        </p:pic>
        <p:pic>
          <p:nvPicPr>
            <p:cNvPr id="6" name="object 6"/>
            <p:cNvPicPr/>
            <p:nvPr/>
          </p:nvPicPr>
          <p:blipFill>
            <a:blip r:embed="rId4" cstate="print"/>
            <a:stretch>
              <a:fillRect/>
            </a:stretch>
          </p:blipFill>
          <p:spPr>
            <a:xfrm>
              <a:off x="7022591" y="984491"/>
              <a:ext cx="1013447" cy="1080528"/>
            </a:xfrm>
            <a:prstGeom prst="rect">
              <a:avLst/>
            </a:prstGeom>
          </p:spPr>
        </p:pic>
        <p:sp>
          <p:nvSpPr>
            <p:cNvPr id="7" name="object 7"/>
            <p:cNvSpPr/>
            <p:nvPr/>
          </p:nvSpPr>
          <p:spPr>
            <a:xfrm>
              <a:off x="7103363" y="1065275"/>
              <a:ext cx="856615" cy="923925"/>
            </a:xfrm>
            <a:custGeom>
              <a:avLst/>
              <a:gdLst/>
              <a:ahLst/>
              <a:cxnLst/>
              <a:rect l="l" t="t" r="r" b="b"/>
              <a:pathLst>
                <a:path w="856615" h="923925">
                  <a:moveTo>
                    <a:pt x="856488" y="0"/>
                  </a:moveTo>
                  <a:lnTo>
                    <a:pt x="428244" y="0"/>
                  </a:lnTo>
                  <a:lnTo>
                    <a:pt x="381588" y="2709"/>
                  </a:lnTo>
                  <a:lnTo>
                    <a:pt x="336387" y="10651"/>
                  </a:lnTo>
                  <a:lnTo>
                    <a:pt x="292900" y="23542"/>
                  </a:lnTo>
                  <a:lnTo>
                    <a:pt x="251390" y="41102"/>
                  </a:lnTo>
                  <a:lnTo>
                    <a:pt x="212118" y="63048"/>
                  </a:lnTo>
                  <a:lnTo>
                    <a:pt x="175345" y="89099"/>
                  </a:lnTo>
                  <a:lnTo>
                    <a:pt x="141333" y="118972"/>
                  </a:lnTo>
                  <a:lnTo>
                    <a:pt x="110343" y="152387"/>
                  </a:lnTo>
                  <a:lnTo>
                    <a:pt x="82637" y="189061"/>
                  </a:lnTo>
                  <a:lnTo>
                    <a:pt x="58476" y="228712"/>
                  </a:lnTo>
                  <a:lnTo>
                    <a:pt x="38122" y="271060"/>
                  </a:lnTo>
                  <a:lnTo>
                    <a:pt x="21835" y="315821"/>
                  </a:lnTo>
                  <a:lnTo>
                    <a:pt x="9879" y="362715"/>
                  </a:lnTo>
                  <a:lnTo>
                    <a:pt x="2513" y="411459"/>
                  </a:lnTo>
                  <a:lnTo>
                    <a:pt x="0" y="461772"/>
                  </a:lnTo>
                  <a:lnTo>
                    <a:pt x="2513" y="512084"/>
                  </a:lnTo>
                  <a:lnTo>
                    <a:pt x="9879" y="560828"/>
                  </a:lnTo>
                  <a:lnTo>
                    <a:pt x="21835" y="607722"/>
                  </a:lnTo>
                  <a:lnTo>
                    <a:pt x="38122" y="652483"/>
                  </a:lnTo>
                  <a:lnTo>
                    <a:pt x="58476" y="694831"/>
                  </a:lnTo>
                  <a:lnTo>
                    <a:pt x="82637" y="734482"/>
                  </a:lnTo>
                  <a:lnTo>
                    <a:pt x="110343" y="771156"/>
                  </a:lnTo>
                  <a:lnTo>
                    <a:pt x="141333" y="804571"/>
                  </a:lnTo>
                  <a:lnTo>
                    <a:pt x="175345" y="834444"/>
                  </a:lnTo>
                  <a:lnTo>
                    <a:pt x="212118" y="860495"/>
                  </a:lnTo>
                  <a:lnTo>
                    <a:pt x="251390" y="882441"/>
                  </a:lnTo>
                  <a:lnTo>
                    <a:pt x="292900" y="900001"/>
                  </a:lnTo>
                  <a:lnTo>
                    <a:pt x="336387" y="912892"/>
                  </a:lnTo>
                  <a:lnTo>
                    <a:pt x="381588" y="920834"/>
                  </a:lnTo>
                  <a:lnTo>
                    <a:pt x="428244" y="923544"/>
                  </a:lnTo>
                  <a:lnTo>
                    <a:pt x="474899" y="920834"/>
                  </a:lnTo>
                  <a:lnTo>
                    <a:pt x="520100" y="912892"/>
                  </a:lnTo>
                  <a:lnTo>
                    <a:pt x="563587" y="900001"/>
                  </a:lnTo>
                  <a:lnTo>
                    <a:pt x="605097" y="882441"/>
                  </a:lnTo>
                  <a:lnTo>
                    <a:pt x="644369" y="860495"/>
                  </a:lnTo>
                  <a:lnTo>
                    <a:pt x="681142" y="834444"/>
                  </a:lnTo>
                  <a:lnTo>
                    <a:pt x="715154" y="804571"/>
                  </a:lnTo>
                  <a:lnTo>
                    <a:pt x="746144" y="771156"/>
                  </a:lnTo>
                  <a:lnTo>
                    <a:pt x="773850" y="734482"/>
                  </a:lnTo>
                  <a:lnTo>
                    <a:pt x="798011" y="694831"/>
                  </a:lnTo>
                  <a:lnTo>
                    <a:pt x="818365" y="652483"/>
                  </a:lnTo>
                  <a:lnTo>
                    <a:pt x="834652" y="607722"/>
                  </a:lnTo>
                  <a:lnTo>
                    <a:pt x="846608" y="560828"/>
                  </a:lnTo>
                  <a:lnTo>
                    <a:pt x="853974" y="512084"/>
                  </a:lnTo>
                  <a:lnTo>
                    <a:pt x="856488" y="461772"/>
                  </a:lnTo>
                  <a:lnTo>
                    <a:pt x="856488" y="0"/>
                  </a:lnTo>
                  <a:close/>
                </a:path>
              </a:pathLst>
            </a:custGeom>
            <a:solidFill>
              <a:srgbClr val="FFFFFF"/>
            </a:solidFill>
          </p:spPr>
          <p:txBody>
            <a:bodyPr wrap="square" lIns="0" tIns="0" rIns="0" bIns="0" rtlCol="0"/>
            <a:lstStyle/>
            <a:p>
              <a:endParaRPr/>
            </a:p>
          </p:txBody>
        </p:sp>
        <p:sp>
          <p:nvSpPr>
            <p:cNvPr id="8" name="object 8"/>
            <p:cNvSpPr/>
            <p:nvPr/>
          </p:nvSpPr>
          <p:spPr>
            <a:xfrm>
              <a:off x="7103363" y="1065275"/>
              <a:ext cx="856615" cy="923925"/>
            </a:xfrm>
            <a:custGeom>
              <a:avLst/>
              <a:gdLst/>
              <a:ahLst/>
              <a:cxnLst/>
              <a:rect l="l" t="t" r="r" b="b"/>
              <a:pathLst>
                <a:path w="856615" h="923925">
                  <a:moveTo>
                    <a:pt x="0" y="461772"/>
                  </a:moveTo>
                  <a:lnTo>
                    <a:pt x="2513" y="411459"/>
                  </a:lnTo>
                  <a:lnTo>
                    <a:pt x="9879" y="362715"/>
                  </a:lnTo>
                  <a:lnTo>
                    <a:pt x="21835" y="315821"/>
                  </a:lnTo>
                  <a:lnTo>
                    <a:pt x="38122" y="271060"/>
                  </a:lnTo>
                  <a:lnTo>
                    <a:pt x="58476" y="228712"/>
                  </a:lnTo>
                  <a:lnTo>
                    <a:pt x="82637" y="189061"/>
                  </a:lnTo>
                  <a:lnTo>
                    <a:pt x="110343" y="152387"/>
                  </a:lnTo>
                  <a:lnTo>
                    <a:pt x="141333" y="118972"/>
                  </a:lnTo>
                  <a:lnTo>
                    <a:pt x="175345" y="89099"/>
                  </a:lnTo>
                  <a:lnTo>
                    <a:pt x="212118" y="63048"/>
                  </a:lnTo>
                  <a:lnTo>
                    <a:pt x="251390" y="41102"/>
                  </a:lnTo>
                  <a:lnTo>
                    <a:pt x="292900" y="23542"/>
                  </a:lnTo>
                  <a:lnTo>
                    <a:pt x="336387" y="10651"/>
                  </a:lnTo>
                  <a:lnTo>
                    <a:pt x="381588" y="2709"/>
                  </a:lnTo>
                  <a:lnTo>
                    <a:pt x="428244" y="0"/>
                  </a:lnTo>
                  <a:lnTo>
                    <a:pt x="481774" y="0"/>
                  </a:lnTo>
                  <a:lnTo>
                    <a:pt x="535305" y="0"/>
                  </a:lnTo>
                  <a:lnTo>
                    <a:pt x="856488" y="0"/>
                  </a:lnTo>
                  <a:lnTo>
                    <a:pt x="856488" y="51308"/>
                  </a:lnTo>
                  <a:lnTo>
                    <a:pt x="856488" y="461772"/>
                  </a:lnTo>
                  <a:lnTo>
                    <a:pt x="853974" y="512084"/>
                  </a:lnTo>
                  <a:lnTo>
                    <a:pt x="846608" y="560828"/>
                  </a:lnTo>
                  <a:lnTo>
                    <a:pt x="834652" y="607722"/>
                  </a:lnTo>
                  <a:lnTo>
                    <a:pt x="818365" y="652483"/>
                  </a:lnTo>
                  <a:lnTo>
                    <a:pt x="798011" y="694831"/>
                  </a:lnTo>
                  <a:lnTo>
                    <a:pt x="773850" y="734482"/>
                  </a:lnTo>
                  <a:lnTo>
                    <a:pt x="746144" y="771156"/>
                  </a:lnTo>
                  <a:lnTo>
                    <a:pt x="715154" y="804571"/>
                  </a:lnTo>
                  <a:lnTo>
                    <a:pt x="681142" y="834444"/>
                  </a:lnTo>
                  <a:lnTo>
                    <a:pt x="644369" y="860495"/>
                  </a:lnTo>
                  <a:lnTo>
                    <a:pt x="605097" y="882441"/>
                  </a:lnTo>
                  <a:lnTo>
                    <a:pt x="563587" y="900001"/>
                  </a:lnTo>
                  <a:lnTo>
                    <a:pt x="520100" y="912892"/>
                  </a:lnTo>
                  <a:lnTo>
                    <a:pt x="474899" y="920834"/>
                  </a:lnTo>
                  <a:lnTo>
                    <a:pt x="428244" y="923544"/>
                  </a:lnTo>
                  <a:lnTo>
                    <a:pt x="381588" y="920834"/>
                  </a:lnTo>
                  <a:lnTo>
                    <a:pt x="336387" y="912892"/>
                  </a:lnTo>
                  <a:lnTo>
                    <a:pt x="292900" y="900001"/>
                  </a:lnTo>
                  <a:lnTo>
                    <a:pt x="251390" y="882441"/>
                  </a:lnTo>
                  <a:lnTo>
                    <a:pt x="212118" y="860495"/>
                  </a:lnTo>
                  <a:lnTo>
                    <a:pt x="175345" y="834444"/>
                  </a:lnTo>
                  <a:lnTo>
                    <a:pt x="141333" y="804571"/>
                  </a:lnTo>
                  <a:lnTo>
                    <a:pt x="110343" y="771156"/>
                  </a:lnTo>
                  <a:lnTo>
                    <a:pt x="82637" y="734482"/>
                  </a:lnTo>
                  <a:lnTo>
                    <a:pt x="58476" y="694831"/>
                  </a:lnTo>
                  <a:lnTo>
                    <a:pt x="38122" y="652483"/>
                  </a:lnTo>
                  <a:lnTo>
                    <a:pt x="21835" y="607722"/>
                  </a:lnTo>
                  <a:lnTo>
                    <a:pt x="9879" y="560828"/>
                  </a:lnTo>
                  <a:lnTo>
                    <a:pt x="2513" y="512084"/>
                  </a:lnTo>
                  <a:lnTo>
                    <a:pt x="0" y="461772"/>
                  </a:lnTo>
                  <a:close/>
                </a:path>
              </a:pathLst>
            </a:custGeom>
            <a:ln w="12700">
              <a:solidFill>
                <a:srgbClr val="FFFFFF"/>
              </a:solidFill>
            </a:ln>
          </p:spPr>
          <p:txBody>
            <a:bodyPr wrap="square" lIns="0" tIns="0" rIns="0" bIns="0" rtlCol="0"/>
            <a:lstStyle/>
            <a:p>
              <a:endParaRPr/>
            </a:p>
          </p:txBody>
        </p:sp>
        <p:pic>
          <p:nvPicPr>
            <p:cNvPr id="9" name="object 9"/>
            <p:cNvPicPr/>
            <p:nvPr/>
          </p:nvPicPr>
          <p:blipFill>
            <a:blip r:embed="rId5" cstate="print"/>
            <a:stretch>
              <a:fillRect/>
            </a:stretch>
          </p:blipFill>
          <p:spPr>
            <a:xfrm>
              <a:off x="6975347" y="1013459"/>
              <a:ext cx="1145286" cy="1229106"/>
            </a:xfrm>
            <a:prstGeom prst="rect">
              <a:avLst/>
            </a:prstGeom>
          </p:spPr>
        </p:pic>
      </p:grpSp>
      <p:grpSp>
        <p:nvGrpSpPr>
          <p:cNvPr id="10" name="object 10"/>
          <p:cNvGrpSpPr/>
          <p:nvPr/>
        </p:nvGrpSpPr>
        <p:grpSpPr>
          <a:xfrm>
            <a:off x="9192744" y="982980"/>
            <a:ext cx="2326005" cy="5209540"/>
            <a:chOff x="9192744" y="982980"/>
            <a:chExt cx="2326005" cy="5209540"/>
          </a:xfrm>
        </p:grpSpPr>
        <p:pic>
          <p:nvPicPr>
            <p:cNvPr id="11" name="object 11"/>
            <p:cNvPicPr/>
            <p:nvPr/>
          </p:nvPicPr>
          <p:blipFill>
            <a:blip r:embed="rId6" cstate="print"/>
            <a:stretch>
              <a:fillRect/>
            </a:stretch>
          </p:blipFill>
          <p:spPr>
            <a:xfrm>
              <a:off x="9192744" y="1511801"/>
              <a:ext cx="2325671" cy="4680213"/>
            </a:xfrm>
            <a:prstGeom prst="rect">
              <a:avLst/>
            </a:prstGeom>
          </p:spPr>
        </p:pic>
        <p:pic>
          <p:nvPicPr>
            <p:cNvPr id="12" name="object 12"/>
            <p:cNvPicPr/>
            <p:nvPr/>
          </p:nvPicPr>
          <p:blipFill>
            <a:blip r:embed="rId7" cstate="print"/>
            <a:stretch>
              <a:fillRect/>
            </a:stretch>
          </p:blipFill>
          <p:spPr>
            <a:xfrm>
              <a:off x="9209532" y="1519428"/>
              <a:ext cx="2241804" cy="4605528"/>
            </a:xfrm>
            <a:prstGeom prst="rect">
              <a:avLst/>
            </a:prstGeom>
          </p:spPr>
        </p:pic>
        <p:pic>
          <p:nvPicPr>
            <p:cNvPr id="13" name="object 13"/>
            <p:cNvPicPr/>
            <p:nvPr/>
          </p:nvPicPr>
          <p:blipFill>
            <a:blip r:embed="rId8" cstate="print"/>
            <a:stretch>
              <a:fillRect/>
            </a:stretch>
          </p:blipFill>
          <p:spPr>
            <a:xfrm>
              <a:off x="9802368" y="982992"/>
              <a:ext cx="1001268" cy="1068311"/>
            </a:xfrm>
            <a:prstGeom prst="rect">
              <a:avLst/>
            </a:prstGeom>
          </p:spPr>
        </p:pic>
        <p:sp>
          <p:nvSpPr>
            <p:cNvPr id="14" name="object 14"/>
            <p:cNvSpPr/>
            <p:nvPr/>
          </p:nvSpPr>
          <p:spPr>
            <a:xfrm>
              <a:off x="9877044" y="1057656"/>
              <a:ext cx="856615" cy="923925"/>
            </a:xfrm>
            <a:custGeom>
              <a:avLst/>
              <a:gdLst/>
              <a:ahLst/>
              <a:cxnLst/>
              <a:rect l="l" t="t" r="r" b="b"/>
              <a:pathLst>
                <a:path w="856615" h="923925">
                  <a:moveTo>
                    <a:pt x="856488" y="0"/>
                  </a:moveTo>
                  <a:lnTo>
                    <a:pt x="428244" y="0"/>
                  </a:lnTo>
                  <a:lnTo>
                    <a:pt x="381588" y="2709"/>
                  </a:lnTo>
                  <a:lnTo>
                    <a:pt x="336387" y="10651"/>
                  </a:lnTo>
                  <a:lnTo>
                    <a:pt x="292900" y="23542"/>
                  </a:lnTo>
                  <a:lnTo>
                    <a:pt x="251390" y="41102"/>
                  </a:lnTo>
                  <a:lnTo>
                    <a:pt x="212118" y="63048"/>
                  </a:lnTo>
                  <a:lnTo>
                    <a:pt x="175345" y="89099"/>
                  </a:lnTo>
                  <a:lnTo>
                    <a:pt x="141333" y="118972"/>
                  </a:lnTo>
                  <a:lnTo>
                    <a:pt x="110343" y="152387"/>
                  </a:lnTo>
                  <a:lnTo>
                    <a:pt x="82637" y="189061"/>
                  </a:lnTo>
                  <a:lnTo>
                    <a:pt x="58476" y="228712"/>
                  </a:lnTo>
                  <a:lnTo>
                    <a:pt x="38122" y="271060"/>
                  </a:lnTo>
                  <a:lnTo>
                    <a:pt x="21835" y="315821"/>
                  </a:lnTo>
                  <a:lnTo>
                    <a:pt x="9879" y="362715"/>
                  </a:lnTo>
                  <a:lnTo>
                    <a:pt x="2513" y="411459"/>
                  </a:lnTo>
                  <a:lnTo>
                    <a:pt x="0" y="461772"/>
                  </a:lnTo>
                  <a:lnTo>
                    <a:pt x="2513" y="512084"/>
                  </a:lnTo>
                  <a:lnTo>
                    <a:pt x="9879" y="560828"/>
                  </a:lnTo>
                  <a:lnTo>
                    <a:pt x="21835" y="607722"/>
                  </a:lnTo>
                  <a:lnTo>
                    <a:pt x="38122" y="652483"/>
                  </a:lnTo>
                  <a:lnTo>
                    <a:pt x="58476" y="694831"/>
                  </a:lnTo>
                  <a:lnTo>
                    <a:pt x="82637" y="734482"/>
                  </a:lnTo>
                  <a:lnTo>
                    <a:pt x="110343" y="771156"/>
                  </a:lnTo>
                  <a:lnTo>
                    <a:pt x="141333" y="804571"/>
                  </a:lnTo>
                  <a:lnTo>
                    <a:pt x="175345" y="834444"/>
                  </a:lnTo>
                  <a:lnTo>
                    <a:pt x="212118" y="860495"/>
                  </a:lnTo>
                  <a:lnTo>
                    <a:pt x="251390" y="882441"/>
                  </a:lnTo>
                  <a:lnTo>
                    <a:pt x="292900" y="900001"/>
                  </a:lnTo>
                  <a:lnTo>
                    <a:pt x="336387" y="912892"/>
                  </a:lnTo>
                  <a:lnTo>
                    <a:pt x="381588" y="920834"/>
                  </a:lnTo>
                  <a:lnTo>
                    <a:pt x="428244" y="923544"/>
                  </a:lnTo>
                  <a:lnTo>
                    <a:pt x="474899" y="920834"/>
                  </a:lnTo>
                  <a:lnTo>
                    <a:pt x="520100" y="912892"/>
                  </a:lnTo>
                  <a:lnTo>
                    <a:pt x="563587" y="900001"/>
                  </a:lnTo>
                  <a:lnTo>
                    <a:pt x="605097" y="882441"/>
                  </a:lnTo>
                  <a:lnTo>
                    <a:pt x="644369" y="860495"/>
                  </a:lnTo>
                  <a:lnTo>
                    <a:pt x="681142" y="834444"/>
                  </a:lnTo>
                  <a:lnTo>
                    <a:pt x="715154" y="804571"/>
                  </a:lnTo>
                  <a:lnTo>
                    <a:pt x="746144" y="771156"/>
                  </a:lnTo>
                  <a:lnTo>
                    <a:pt x="773850" y="734482"/>
                  </a:lnTo>
                  <a:lnTo>
                    <a:pt x="798011" y="694831"/>
                  </a:lnTo>
                  <a:lnTo>
                    <a:pt x="818365" y="652483"/>
                  </a:lnTo>
                  <a:lnTo>
                    <a:pt x="834652" y="607722"/>
                  </a:lnTo>
                  <a:lnTo>
                    <a:pt x="846608" y="560828"/>
                  </a:lnTo>
                  <a:lnTo>
                    <a:pt x="853974" y="512084"/>
                  </a:lnTo>
                  <a:lnTo>
                    <a:pt x="856488" y="461772"/>
                  </a:lnTo>
                  <a:lnTo>
                    <a:pt x="856488" y="0"/>
                  </a:lnTo>
                  <a:close/>
                </a:path>
              </a:pathLst>
            </a:custGeom>
            <a:solidFill>
              <a:srgbClr val="FFFFFF"/>
            </a:solidFill>
          </p:spPr>
          <p:txBody>
            <a:bodyPr wrap="square" lIns="0" tIns="0" rIns="0" bIns="0" rtlCol="0"/>
            <a:lstStyle/>
            <a:p>
              <a:endParaRPr/>
            </a:p>
          </p:txBody>
        </p:sp>
        <p:pic>
          <p:nvPicPr>
            <p:cNvPr id="15" name="object 15"/>
            <p:cNvPicPr/>
            <p:nvPr/>
          </p:nvPicPr>
          <p:blipFill>
            <a:blip r:embed="rId9" cstate="print"/>
            <a:stretch>
              <a:fillRect/>
            </a:stretch>
          </p:blipFill>
          <p:spPr>
            <a:xfrm>
              <a:off x="9793224" y="982980"/>
              <a:ext cx="1061466" cy="1282446"/>
            </a:xfrm>
            <a:prstGeom prst="rect">
              <a:avLst/>
            </a:prstGeom>
          </p:spPr>
        </p:pic>
      </p:grpSp>
      <p:grpSp>
        <p:nvGrpSpPr>
          <p:cNvPr id="16" name="object 16"/>
          <p:cNvGrpSpPr/>
          <p:nvPr/>
        </p:nvGrpSpPr>
        <p:grpSpPr>
          <a:xfrm>
            <a:off x="677450" y="982980"/>
            <a:ext cx="2317115" cy="5209540"/>
            <a:chOff x="667464" y="982980"/>
            <a:chExt cx="2317115" cy="5209540"/>
          </a:xfrm>
        </p:grpSpPr>
        <p:pic>
          <p:nvPicPr>
            <p:cNvPr id="17" name="object 17"/>
            <p:cNvPicPr/>
            <p:nvPr/>
          </p:nvPicPr>
          <p:blipFill>
            <a:blip r:embed="rId10" cstate="print"/>
            <a:stretch>
              <a:fillRect/>
            </a:stretch>
          </p:blipFill>
          <p:spPr>
            <a:xfrm>
              <a:off x="667464" y="1511801"/>
              <a:ext cx="2316551" cy="4680213"/>
            </a:xfrm>
            <a:prstGeom prst="rect">
              <a:avLst/>
            </a:prstGeom>
          </p:spPr>
        </p:pic>
        <p:pic>
          <p:nvPicPr>
            <p:cNvPr id="18" name="object 18"/>
            <p:cNvPicPr/>
            <p:nvPr/>
          </p:nvPicPr>
          <p:blipFill>
            <a:blip r:embed="rId11" cstate="print"/>
            <a:stretch>
              <a:fillRect/>
            </a:stretch>
          </p:blipFill>
          <p:spPr>
            <a:xfrm>
              <a:off x="729995" y="1519428"/>
              <a:ext cx="2241804" cy="4605528"/>
            </a:xfrm>
            <a:prstGeom prst="rect">
              <a:avLst/>
            </a:prstGeom>
          </p:spPr>
        </p:pic>
        <p:pic>
          <p:nvPicPr>
            <p:cNvPr id="19" name="object 19"/>
            <p:cNvPicPr/>
            <p:nvPr/>
          </p:nvPicPr>
          <p:blipFill>
            <a:blip r:embed="rId12" cstate="print"/>
            <a:stretch>
              <a:fillRect/>
            </a:stretch>
          </p:blipFill>
          <p:spPr>
            <a:xfrm>
              <a:off x="1348739" y="982992"/>
              <a:ext cx="999756" cy="1068311"/>
            </a:xfrm>
            <a:prstGeom prst="rect">
              <a:avLst/>
            </a:prstGeom>
          </p:spPr>
        </p:pic>
        <p:sp>
          <p:nvSpPr>
            <p:cNvPr id="20" name="object 20"/>
            <p:cNvSpPr/>
            <p:nvPr/>
          </p:nvSpPr>
          <p:spPr>
            <a:xfrm>
              <a:off x="1423415" y="1057656"/>
              <a:ext cx="855344" cy="923925"/>
            </a:xfrm>
            <a:custGeom>
              <a:avLst/>
              <a:gdLst/>
              <a:ahLst/>
              <a:cxnLst/>
              <a:rect l="l" t="t" r="r" b="b"/>
              <a:pathLst>
                <a:path w="855344" h="923925">
                  <a:moveTo>
                    <a:pt x="854963" y="0"/>
                  </a:moveTo>
                  <a:lnTo>
                    <a:pt x="427481" y="0"/>
                  </a:lnTo>
                  <a:lnTo>
                    <a:pt x="380902" y="2709"/>
                  </a:lnTo>
                  <a:lnTo>
                    <a:pt x="335776" y="10651"/>
                  </a:lnTo>
                  <a:lnTo>
                    <a:pt x="292364" y="23542"/>
                  </a:lnTo>
                  <a:lnTo>
                    <a:pt x="250926" y="41102"/>
                  </a:lnTo>
                  <a:lnTo>
                    <a:pt x="211723" y="63048"/>
                  </a:lnTo>
                  <a:lnTo>
                    <a:pt x="175016" y="89099"/>
                  </a:lnTo>
                  <a:lnTo>
                    <a:pt x="141065" y="118972"/>
                  </a:lnTo>
                  <a:lnTo>
                    <a:pt x="110133" y="152387"/>
                  </a:lnTo>
                  <a:lnTo>
                    <a:pt x="82478" y="189061"/>
                  </a:lnTo>
                  <a:lnTo>
                    <a:pt x="58363" y="228712"/>
                  </a:lnTo>
                  <a:lnTo>
                    <a:pt x="38048" y="271060"/>
                  </a:lnTo>
                  <a:lnTo>
                    <a:pt x="21793" y="315821"/>
                  </a:lnTo>
                  <a:lnTo>
                    <a:pt x="9859" y="362715"/>
                  </a:lnTo>
                  <a:lnTo>
                    <a:pt x="2508" y="411459"/>
                  </a:lnTo>
                  <a:lnTo>
                    <a:pt x="0" y="461772"/>
                  </a:lnTo>
                  <a:lnTo>
                    <a:pt x="2508" y="512084"/>
                  </a:lnTo>
                  <a:lnTo>
                    <a:pt x="9859" y="560828"/>
                  </a:lnTo>
                  <a:lnTo>
                    <a:pt x="21793" y="607722"/>
                  </a:lnTo>
                  <a:lnTo>
                    <a:pt x="38048" y="652483"/>
                  </a:lnTo>
                  <a:lnTo>
                    <a:pt x="58363" y="694831"/>
                  </a:lnTo>
                  <a:lnTo>
                    <a:pt x="82478" y="734482"/>
                  </a:lnTo>
                  <a:lnTo>
                    <a:pt x="110133" y="771156"/>
                  </a:lnTo>
                  <a:lnTo>
                    <a:pt x="141065" y="804571"/>
                  </a:lnTo>
                  <a:lnTo>
                    <a:pt x="175016" y="834444"/>
                  </a:lnTo>
                  <a:lnTo>
                    <a:pt x="211723" y="860495"/>
                  </a:lnTo>
                  <a:lnTo>
                    <a:pt x="250926" y="882441"/>
                  </a:lnTo>
                  <a:lnTo>
                    <a:pt x="292364" y="900001"/>
                  </a:lnTo>
                  <a:lnTo>
                    <a:pt x="335776" y="912892"/>
                  </a:lnTo>
                  <a:lnTo>
                    <a:pt x="380902" y="920834"/>
                  </a:lnTo>
                  <a:lnTo>
                    <a:pt x="427481" y="923544"/>
                  </a:lnTo>
                  <a:lnTo>
                    <a:pt x="474061" y="920834"/>
                  </a:lnTo>
                  <a:lnTo>
                    <a:pt x="519187" y="912892"/>
                  </a:lnTo>
                  <a:lnTo>
                    <a:pt x="562599" y="900001"/>
                  </a:lnTo>
                  <a:lnTo>
                    <a:pt x="604037" y="882441"/>
                  </a:lnTo>
                  <a:lnTo>
                    <a:pt x="643240" y="860495"/>
                  </a:lnTo>
                  <a:lnTo>
                    <a:pt x="679947" y="834444"/>
                  </a:lnTo>
                  <a:lnTo>
                    <a:pt x="713898" y="804571"/>
                  </a:lnTo>
                  <a:lnTo>
                    <a:pt x="744830" y="771156"/>
                  </a:lnTo>
                  <a:lnTo>
                    <a:pt x="772485" y="734482"/>
                  </a:lnTo>
                  <a:lnTo>
                    <a:pt x="796600" y="694831"/>
                  </a:lnTo>
                  <a:lnTo>
                    <a:pt x="816915" y="652483"/>
                  </a:lnTo>
                  <a:lnTo>
                    <a:pt x="833170" y="607722"/>
                  </a:lnTo>
                  <a:lnTo>
                    <a:pt x="845104" y="560828"/>
                  </a:lnTo>
                  <a:lnTo>
                    <a:pt x="852455" y="512084"/>
                  </a:lnTo>
                  <a:lnTo>
                    <a:pt x="854963" y="461772"/>
                  </a:lnTo>
                  <a:lnTo>
                    <a:pt x="854963" y="0"/>
                  </a:lnTo>
                  <a:close/>
                </a:path>
              </a:pathLst>
            </a:custGeom>
            <a:solidFill>
              <a:srgbClr val="FFFFFF"/>
            </a:solidFill>
          </p:spPr>
          <p:txBody>
            <a:bodyPr wrap="square" lIns="0" tIns="0" rIns="0" bIns="0" rtlCol="0"/>
            <a:lstStyle/>
            <a:p>
              <a:endParaRPr/>
            </a:p>
          </p:txBody>
        </p:sp>
        <p:pic>
          <p:nvPicPr>
            <p:cNvPr id="21" name="object 21"/>
            <p:cNvPicPr/>
            <p:nvPr/>
          </p:nvPicPr>
          <p:blipFill>
            <a:blip r:embed="rId13" cstate="print"/>
            <a:stretch>
              <a:fillRect/>
            </a:stretch>
          </p:blipFill>
          <p:spPr>
            <a:xfrm>
              <a:off x="1351787" y="982980"/>
              <a:ext cx="1034034" cy="1282446"/>
            </a:xfrm>
            <a:prstGeom prst="rect">
              <a:avLst/>
            </a:prstGeom>
          </p:spPr>
        </p:pic>
      </p:grpSp>
      <p:grpSp>
        <p:nvGrpSpPr>
          <p:cNvPr id="22" name="object 22"/>
          <p:cNvGrpSpPr/>
          <p:nvPr/>
        </p:nvGrpSpPr>
        <p:grpSpPr>
          <a:xfrm>
            <a:off x="3470136" y="950975"/>
            <a:ext cx="2385695" cy="5271770"/>
            <a:chOff x="3470136" y="950975"/>
            <a:chExt cx="2385695" cy="5271770"/>
          </a:xfrm>
        </p:grpSpPr>
        <p:pic>
          <p:nvPicPr>
            <p:cNvPr id="23" name="object 23"/>
            <p:cNvPicPr/>
            <p:nvPr/>
          </p:nvPicPr>
          <p:blipFill>
            <a:blip r:embed="rId14" cstate="print"/>
            <a:stretch>
              <a:fillRect/>
            </a:stretch>
          </p:blipFill>
          <p:spPr>
            <a:xfrm>
              <a:off x="3470136" y="1426446"/>
              <a:ext cx="2385083" cy="4796053"/>
            </a:xfrm>
            <a:prstGeom prst="rect">
              <a:avLst/>
            </a:prstGeom>
          </p:spPr>
        </p:pic>
        <p:pic>
          <p:nvPicPr>
            <p:cNvPr id="24" name="object 24"/>
            <p:cNvPicPr/>
            <p:nvPr/>
          </p:nvPicPr>
          <p:blipFill>
            <a:blip r:embed="rId15" cstate="print"/>
            <a:stretch>
              <a:fillRect/>
            </a:stretch>
          </p:blipFill>
          <p:spPr>
            <a:xfrm>
              <a:off x="3540252" y="1519427"/>
              <a:ext cx="2249424" cy="4605528"/>
            </a:xfrm>
            <a:prstGeom prst="rect">
              <a:avLst/>
            </a:prstGeom>
          </p:spPr>
        </p:pic>
        <p:pic>
          <p:nvPicPr>
            <p:cNvPr id="25" name="object 25"/>
            <p:cNvPicPr/>
            <p:nvPr/>
          </p:nvPicPr>
          <p:blipFill>
            <a:blip r:embed="rId16" cstate="print"/>
            <a:stretch>
              <a:fillRect/>
            </a:stretch>
          </p:blipFill>
          <p:spPr>
            <a:xfrm>
              <a:off x="4206240" y="976871"/>
              <a:ext cx="958583" cy="1025664"/>
            </a:xfrm>
            <a:prstGeom prst="rect">
              <a:avLst/>
            </a:prstGeom>
          </p:spPr>
        </p:pic>
        <p:pic>
          <p:nvPicPr>
            <p:cNvPr id="26" name="object 26"/>
            <p:cNvPicPr/>
            <p:nvPr/>
          </p:nvPicPr>
          <p:blipFill>
            <a:blip r:embed="rId17" cstate="print"/>
            <a:stretch>
              <a:fillRect/>
            </a:stretch>
          </p:blipFill>
          <p:spPr>
            <a:xfrm>
              <a:off x="4032504" y="950975"/>
              <a:ext cx="1339596" cy="1274064"/>
            </a:xfrm>
            <a:prstGeom prst="rect">
              <a:avLst/>
            </a:prstGeom>
          </p:spPr>
        </p:pic>
        <p:sp>
          <p:nvSpPr>
            <p:cNvPr id="27" name="object 27"/>
            <p:cNvSpPr/>
            <p:nvPr/>
          </p:nvSpPr>
          <p:spPr>
            <a:xfrm>
              <a:off x="4232148" y="1057655"/>
              <a:ext cx="856615" cy="923925"/>
            </a:xfrm>
            <a:custGeom>
              <a:avLst/>
              <a:gdLst/>
              <a:ahLst/>
              <a:cxnLst/>
              <a:rect l="l" t="t" r="r" b="b"/>
              <a:pathLst>
                <a:path w="856614" h="923925">
                  <a:moveTo>
                    <a:pt x="856488" y="0"/>
                  </a:moveTo>
                  <a:lnTo>
                    <a:pt x="428244" y="0"/>
                  </a:lnTo>
                  <a:lnTo>
                    <a:pt x="381588" y="2709"/>
                  </a:lnTo>
                  <a:lnTo>
                    <a:pt x="336387" y="10651"/>
                  </a:lnTo>
                  <a:lnTo>
                    <a:pt x="292900" y="23542"/>
                  </a:lnTo>
                  <a:lnTo>
                    <a:pt x="251390" y="41102"/>
                  </a:lnTo>
                  <a:lnTo>
                    <a:pt x="212118" y="63048"/>
                  </a:lnTo>
                  <a:lnTo>
                    <a:pt x="175345" y="89099"/>
                  </a:lnTo>
                  <a:lnTo>
                    <a:pt x="141333" y="118972"/>
                  </a:lnTo>
                  <a:lnTo>
                    <a:pt x="110343" y="152387"/>
                  </a:lnTo>
                  <a:lnTo>
                    <a:pt x="82637" y="189061"/>
                  </a:lnTo>
                  <a:lnTo>
                    <a:pt x="58476" y="228712"/>
                  </a:lnTo>
                  <a:lnTo>
                    <a:pt x="38122" y="271060"/>
                  </a:lnTo>
                  <a:lnTo>
                    <a:pt x="21835" y="315821"/>
                  </a:lnTo>
                  <a:lnTo>
                    <a:pt x="9879" y="362715"/>
                  </a:lnTo>
                  <a:lnTo>
                    <a:pt x="2513" y="411459"/>
                  </a:lnTo>
                  <a:lnTo>
                    <a:pt x="0" y="461772"/>
                  </a:lnTo>
                  <a:lnTo>
                    <a:pt x="2513" y="512084"/>
                  </a:lnTo>
                  <a:lnTo>
                    <a:pt x="9879" y="560828"/>
                  </a:lnTo>
                  <a:lnTo>
                    <a:pt x="21835" y="607722"/>
                  </a:lnTo>
                  <a:lnTo>
                    <a:pt x="38122" y="652483"/>
                  </a:lnTo>
                  <a:lnTo>
                    <a:pt x="58476" y="694831"/>
                  </a:lnTo>
                  <a:lnTo>
                    <a:pt x="82637" y="734482"/>
                  </a:lnTo>
                  <a:lnTo>
                    <a:pt x="110343" y="771156"/>
                  </a:lnTo>
                  <a:lnTo>
                    <a:pt x="141333" y="804571"/>
                  </a:lnTo>
                  <a:lnTo>
                    <a:pt x="175345" y="834444"/>
                  </a:lnTo>
                  <a:lnTo>
                    <a:pt x="212118" y="860495"/>
                  </a:lnTo>
                  <a:lnTo>
                    <a:pt x="251390" y="882441"/>
                  </a:lnTo>
                  <a:lnTo>
                    <a:pt x="292900" y="900001"/>
                  </a:lnTo>
                  <a:lnTo>
                    <a:pt x="336387" y="912892"/>
                  </a:lnTo>
                  <a:lnTo>
                    <a:pt x="381588" y="920834"/>
                  </a:lnTo>
                  <a:lnTo>
                    <a:pt x="428244" y="923544"/>
                  </a:lnTo>
                  <a:lnTo>
                    <a:pt x="474899" y="920834"/>
                  </a:lnTo>
                  <a:lnTo>
                    <a:pt x="520100" y="912892"/>
                  </a:lnTo>
                  <a:lnTo>
                    <a:pt x="563587" y="900001"/>
                  </a:lnTo>
                  <a:lnTo>
                    <a:pt x="605097" y="882441"/>
                  </a:lnTo>
                  <a:lnTo>
                    <a:pt x="644369" y="860495"/>
                  </a:lnTo>
                  <a:lnTo>
                    <a:pt x="681142" y="834444"/>
                  </a:lnTo>
                  <a:lnTo>
                    <a:pt x="715154" y="804571"/>
                  </a:lnTo>
                  <a:lnTo>
                    <a:pt x="746144" y="771156"/>
                  </a:lnTo>
                  <a:lnTo>
                    <a:pt x="773850" y="734482"/>
                  </a:lnTo>
                  <a:lnTo>
                    <a:pt x="798011" y="694831"/>
                  </a:lnTo>
                  <a:lnTo>
                    <a:pt x="818365" y="652483"/>
                  </a:lnTo>
                  <a:lnTo>
                    <a:pt x="834652" y="607722"/>
                  </a:lnTo>
                  <a:lnTo>
                    <a:pt x="846608" y="560828"/>
                  </a:lnTo>
                  <a:lnTo>
                    <a:pt x="853974" y="512084"/>
                  </a:lnTo>
                  <a:lnTo>
                    <a:pt x="856488" y="461772"/>
                  </a:lnTo>
                  <a:lnTo>
                    <a:pt x="856488" y="0"/>
                  </a:lnTo>
                  <a:close/>
                </a:path>
              </a:pathLst>
            </a:custGeom>
            <a:solidFill>
              <a:srgbClr val="FFFFFF"/>
            </a:solidFill>
          </p:spPr>
          <p:txBody>
            <a:bodyPr wrap="square" lIns="0" tIns="0" rIns="0" bIns="0" rtlCol="0"/>
            <a:lstStyle/>
            <a:p>
              <a:endParaRPr/>
            </a:p>
          </p:txBody>
        </p:sp>
        <p:pic>
          <p:nvPicPr>
            <p:cNvPr id="28" name="object 28"/>
            <p:cNvPicPr/>
            <p:nvPr/>
          </p:nvPicPr>
          <p:blipFill>
            <a:blip r:embed="rId18" cstate="print"/>
            <a:stretch>
              <a:fillRect/>
            </a:stretch>
          </p:blipFill>
          <p:spPr>
            <a:xfrm>
              <a:off x="4058412" y="1030223"/>
              <a:ext cx="1238250" cy="1172717"/>
            </a:xfrm>
            <a:prstGeom prst="rect">
              <a:avLst/>
            </a:prstGeom>
          </p:spPr>
        </p:pic>
      </p:grpSp>
      <p:sp>
        <p:nvSpPr>
          <p:cNvPr id="29" name="object 29"/>
          <p:cNvSpPr txBox="1"/>
          <p:nvPr/>
        </p:nvSpPr>
        <p:spPr>
          <a:xfrm>
            <a:off x="7309484" y="1159256"/>
            <a:ext cx="445134" cy="696595"/>
          </a:xfrm>
          <a:prstGeom prst="rect">
            <a:avLst/>
          </a:prstGeom>
        </p:spPr>
        <p:txBody>
          <a:bodyPr vert="horz" wrap="square" lIns="0" tIns="13335" rIns="0" bIns="0" rtlCol="0">
            <a:spAutoFit/>
          </a:bodyPr>
          <a:lstStyle/>
          <a:p>
            <a:pPr marL="12700">
              <a:lnSpc>
                <a:spcPct val="100000"/>
              </a:lnSpc>
              <a:spcBef>
                <a:spcPts val="105"/>
              </a:spcBef>
            </a:pPr>
            <a:r>
              <a:rPr sz="4400" spc="-70" dirty="0">
                <a:latin typeface="Arial"/>
                <a:cs typeface="Arial"/>
              </a:rPr>
              <a:t>O</a:t>
            </a:r>
            <a:endParaRPr sz="4400" dirty="0">
              <a:latin typeface="Arial"/>
              <a:cs typeface="Arial"/>
            </a:endParaRPr>
          </a:p>
        </p:txBody>
      </p:sp>
      <p:sp>
        <p:nvSpPr>
          <p:cNvPr id="30" name="object 30"/>
          <p:cNvSpPr txBox="1"/>
          <p:nvPr/>
        </p:nvSpPr>
        <p:spPr>
          <a:xfrm>
            <a:off x="10141457" y="1136396"/>
            <a:ext cx="330835" cy="726440"/>
          </a:xfrm>
          <a:prstGeom prst="rect">
            <a:avLst/>
          </a:prstGeom>
        </p:spPr>
        <p:txBody>
          <a:bodyPr vert="horz" wrap="square" lIns="0" tIns="12065" rIns="0" bIns="0" rtlCol="0">
            <a:spAutoFit/>
          </a:bodyPr>
          <a:lstStyle/>
          <a:p>
            <a:pPr marL="12700">
              <a:lnSpc>
                <a:spcPct val="100000"/>
              </a:lnSpc>
              <a:spcBef>
                <a:spcPts val="95"/>
              </a:spcBef>
            </a:pPr>
            <a:r>
              <a:rPr sz="4600" spc="-475" dirty="0">
                <a:latin typeface="Arial"/>
                <a:cs typeface="Arial"/>
              </a:rPr>
              <a:t>T</a:t>
            </a:r>
            <a:endParaRPr sz="4600" dirty="0">
              <a:latin typeface="Arial"/>
              <a:cs typeface="Arial"/>
            </a:endParaRPr>
          </a:p>
        </p:txBody>
      </p:sp>
      <p:sp>
        <p:nvSpPr>
          <p:cNvPr id="31" name="object 31"/>
          <p:cNvSpPr txBox="1">
            <a:spLocks noGrp="1"/>
          </p:cNvSpPr>
          <p:nvPr>
            <p:ph type="title"/>
          </p:nvPr>
        </p:nvSpPr>
        <p:spPr>
          <a:xfrm>
            <a:off x="1699641" y="1136396"/>
            <a:ext cx="302260" cy="726440"/>
          </a:xfrm>
          <a:prstGeom prst="rect">
            <a:avLst/>
          </a:prstGeom>
        </p:spPr>
        <p:txBody>
          <a:bodyPr vert="horz" wrap="square" lIns="0" tIns="12065" rIns="0" bIns="0" rtlCol="0">
            <a:spAutoFit/>
          </a:bodyPr>
          <a:lstStyle/>
          <a:p>
            <a:pPr marL="12700">
              <a:lnSpc>
                <a:spcPct val="100000"/>
              </a:lnSpc>
              <a:spcBef>
                <a:spcPts val="95"/>
              </a:spcBef>
            </a:pPr>
            <a:r>
              <a:rPr sz="4600" b="0" spc="-940" dirty="0">
                <a:solidFill>
                  <a:srgbClr val="000000"/>
                </a:solidFill>
                <a:latin typeface="Arial"/>
                <a:cs typeface="Arial"/>
              </a:rPr>
              <a:t>S</a:t>
            </a:r>
            <a:endParaRPr sz="4600" dirty="0">
              <a:latin typeface="Arial"/>
              <a:cs typeface="Arial"/>
            </a:endParaRPr>
          </a:p>
        </p:txBody>
      </p:sp>
      <p:sp>
        <p:nvSpPr>
          <p:cNvPr id="32" name="object 32"/>
          <p:cNvSpPr txBox="1"/>
          <p:nvPr/>
        </p:nvSpPr>
        <p:spPr>
          <a:xfrm>
            <a:off x="4375150" y="1168400"/>
            <a:ext cx="572135" cy="665480"/>
          </a:xfrm>
          <a:prstGeom prst="rect">
            <a:avLst/>
          </a:prstGeom>
        </p:spPr>
        <p:txBody>
          <a:bodyPr vert="horz" wrap="square" lIns="0" tIns="12700" rIns="0" bIns="0" rtlCol="0">
            <a:spAutoFit/>
          </a:bodyPr>
          <a:lstStyle/>
          <a:p>
            <a:pPr marL="12700">
              <a:lnSpc>
                <a:spcPct val="100000"/>
              </a:lnSpc>
              <a:spcBef>
                <a:spcPts val="100"/>
              </a:spcBef>
            </a:pPr>
            <a:r>
              <a:rPr sz="4200" spc="265" dirty="0">
                <a:latin typeface="Arial"/>
                <a:cs typeface="Arial"/>
              </a:rPr>
              <a:t>W</a:t>
            </a:r>
            <a:endParaRPr sz="4200" dirty="0">
              <a:latin typeface="Arial"/>
              <a:cs typeface="Arial"/>
            </a:endParaRPr>
          </a:p>
        </p:txBody>
      </p:sp>
      <p:sp>
        <p:nvSpPr>
          <p:cNvPr id="33" name="object 33"/>
          <p:cNvSpPr txBox="1"/>
          <p:nvPr/>
        </p:nvSpPr>
        <p:spPr>
          <a:xfrm>
            <a:off x="729995" y="2148839"/>
            <a:ext cx="2242185" cy="589915"/>
          </a:xfrm>
          <a:prstGeom prst="rect">
            <a:avLst/>
          </a:prstGeom>
          <a:solidFill>
            <a:srgbClr val="FFFFFF"/>
          </a:solidFill>
        </p:spPr>
        <p:txBody>
          <a:bodyPr vert="horz" wrap="square" lIns="0" tIns="77470" rIns="0" bIns="0" rtlCol="0">
            <a:spAutoFit/>
          </a:bodyPr>
          <a:lstStyle/>
          <a:p>
            <a:pPr marL="400050">
              <a:lnSpc>
                <a:spcPct val="100000"/>
              </a:lnSpc>
              <a:spcBef>
                <a:spcPts val="610"/>
              </a:spcBef>
            </a:pPr>
            <a:r>
              <a:rPr sz="2600" spc="-100" dirty="0">
                <a:latin typeface="Arial Narrow"/>
                <a:cs typeface="Times New Roman" panose="02020603050405020304" pitchFamily="18" charset="0"/>
              </a:rPr>
              <a:t>STRENGTHS</a:t>
            </a:r>
            <a:endParaRPr sz="2600" dirty="0">
              <a:latin typeface="Arial Narrow"/>
              <a:cs typeface="Times New Roman" panose="02020603050405020304" pitchFamily="18" charset="0"/>
            </a:endParaRPr>
          </a:p>
        </p:txBody>
      </p:sp>
      <p:sp>
        <p:nvSpPr>
          <p:cNvPr id="34" name="object 34"/>
          <p:cNvSpPr txBox="1"/>
          <p:nvPr/>
        </p:nvSpPr>
        <p:spPr>
          <a:xfrm>
            <a:off x="9209531" y="2148839"/>
            <a:ext cx="2242185" cy="589915"/>
          </a:xfrm>
          <a:prstGeom prst="rect">
            <a:avLst/>
          </a:prstGeom>
          <a:solidFill>
            <a:srgbClr val="FFFFFF"/>
          </a:solidFill>
        </p:spPr>
        <p:txBody>
          <a:bodyPr vert="horz" wrap="square" lIns="0" tIns="77470" rIns="0" bIns="0" rtlCol="0">
            <a:spAutoFit/>
          </a:bodyPr>
          <a:lstStyle/>
          <a:p>
            <a:pPr marL="555625">
              <a:lnSpc>
                <a:spcPct val="100000"/>
              </a:lnSpc>
              <a:spcBef>
                <a:spcPts val="610"/>
              </a:spcBef>
            </a:pPr>
            <a:r>
              <a:rPr sz="2600" spc="-20" dirty="0">
                <a:latin typeface="Arial Narrow"/>
                <a:cs typeface="Arial Narrow"/>
              </a:rPr>
              <a:t>THREATS</a:t>
            </a:r>
            <a:endParaRPr sz="2600">
              <a:latin typeface="Arial Narrow"/>
              <a:cs typeface="Arial Narrow"/>
            </a:endParaRPr>
          </a:p>
        </p:txBody>
      </p:sp>
      <p:sp>
        <p:nvSpPr>
          <p:cNvPr id="35" name="object 35"/>
          <p:cNvSpPr/>
          <p:nvPr/>
        </p:nvSpPr>
        <p:spPr>
          <a:xfrm>
            <a:off x="6371844" y="2148839"/>
            <a:ext cx="2301240" cy="589915"/>
          </a:xfrm>
          <a:custGeom>
            <a:avLst/>
            <a:gdLst/>
            <a:ahLst/>
            <a:cxnLst/>
            <a:rect l="l" t="t" r="r" b="b"/>
            <a:pathLst>
              <a:path w="2301240" h="589914">
                <a:moveTo>
                  <a:pt x="2301240" y="0"/>
                </a:moveTo>
                <a:lnTo>
                  <a:pt x="0" y="0"/>
                </a:lnTo>
                <a:lnTo>
                  <a:pt x="0" y="589788"/>
                </a:lnTo>
                <a:lnTo>
                  <a:pt x="2301240" y="589788"/>
                </a:lnTo>
                <a:lnTo>
                  <a:pt x="2301240" y="0"/>
                </a:lnTo>
                <a:close/>
              </a:path>
            </a:pathLst>
          </a:custGeom>
          <a:solidFill>
            <a:srgbClr val="FFFFFF"/>
          </a:solidFill>
        </p:spPr>
        <p:txBody>
          <a:bodyPr wrap="square" lIns="0" tIns="0" rIns="0" bIns="0" rtlCol="0"/>
          <a:lstStyle/>
          <a:p>
            <a:endParaRPr/>
          </a:p>
        </p:txBody>
      </p:sp>
      <p:sp>
        <p:nvSpPr>
          <p:cNvPr id="36" name="object 36"/>
          <p:cNvSpPr txBox="1"/>
          <p:nvPr/>
        </p:nvSpPr>
        <p:spPr>
          <a:xfrm>
            <a:off x="6510908" y="2213229"/>
            <a:ext cx="2025650" cy="422275"/>
          </a:xfrm>
          <a:prstGeom prst="rect">
            <a:avLst/>
          </a:prstGeom>
        </p:spPr>
        <p:txBody>
          <a:bodyPr vert="horz" wrap="square" lIns="0" tIns="13335" rIns="0" bIns="0" rtlCol="0">
            <a:spAutoFit/>
          </a:bodyPr>
          <a:lstStyle/>
          <a:p>
            <a:pPr marL="12700">
              <a:lnSpc>
                <a:spcPct val="100000"/>
              </a:lnSpc>
              <a:spcBef>
                <a:spcPts val="105"/>
              </a:spcBef>
            </a:pPr>
            <a:r>
              <a:rPr sz="2600" spc="-130" dirty="0">
                <a:latin typeface="Arial Narrow"/>
                <a:cs typeface="Arial Narrow"/>
              </a:rPr>
              <a:t>OPPORTUNITIES</a:t>
            </a:r>
            <a:endParaRPr sz="2600" dirty="0">
              <a:latin typeface="Arial Narrow"/>
              <a:cs typeface="Arial Narrow"/>
            </a:endParaRPr>
          </a:p>
        </p:txBody>
      </p:sp>
      <p:sp>
        <p:nvSpPr>
          <p:cNvPr id="37" name="object 37"/>
          <p:cNvSpPr txBox="1"/>
          <p:nvPr/>
        </p:nvSpPr>
        <p:spPr>
          <a:xfrm>
            <a:off x="3540252" y="2148839"/>
            <a:ext cx="2249805" cy="589915"/>
          </a:xfrm>
          <a:prstGeom prst="rect">
            <a:avLst/>
          </a:prstGeom>
          <a:solidFill>
            <a:srgbClr val="FFFFFF"/>
          </a:solidFill>
        </p:spPr>
        <p:txBody>
          <a:bodyPr vert="horz" wrap="square" lIns="0" tIns="77470" rIns="0" bIns="0" rtlCol="0">
            <a:spAutoFit/>
          </a:bodyPr>
          <a:lstStyle/>
          <a:p>
            <a:pPr marL="264795">
              <a:lnSpc>
                <a:spcPct val="100000"/>
              </a:lnSpc>
              <a:spcBef>
                <a:spcPts val="610"/>
              </a:spcBef>
            </a:pPr>
            <a:r>
              <a:rPr sz="2600" spc="-55" dirty="0">
                <a:latin typeface="Arial Narrow"/>
                <a:cs typeface="Arial Narrow"/>
              </a:rPr>
              <a:t>WEAKNESSES</a:t>
            </a:r>
            <a:endParaRPr sz="2600">
              <a:latin typeface="Arial Narrow"/>
              <a:cs typeface="Arial Narrow"/>
            </a:endParaRPr>
          </a:p>
        </p:txBody>
      </p:sp>
      <p:pic>
        <p:nvPicPr>
          <p:cNvPr id="38" name="object 38"/>
          <p:cNvPicPr/>
          <p:nvPr/>
        </p:nvPicPr>
        <p:blipFill>
          <a:blip r:embed="rId19" cstate="print"/>
          <a:stretch>
            <a:fillRect/>
          </a:stretch>
        </p:blipFill>
        <p:spPr>
          <a:xfrm>
            <a:off x="1327471" y="2714368"/>
            <a:ext cx="1016507" cy="981456"/>
          </a:xfrm>
          <a:prstGeom prst="rect">
            <a:avLst/>
          </a:prstGeom>
        </p:spPr>
      </p:pic>
      <p:pic>
        <p:nvPicPr>
          <p:cNvPr id="39" name="object 39"/>
          <p:cNvPicPr/>
          <p:nvPr/>
        </p:nvPicPr>
        <p:blipFill>
          <a:blip r:embed="rId20" cstate="print"/>
          <a:stretch>
            <a:fillRect/>
          </a:stretch>
        </p:blipFill>
        <p:spPr>
          <a:xfrm>
            <a:off x="4259199" y="2796649"/>
            <a:ext cx="836676" cy="835151"/>
          </a:xfrm>
          <a:prstGeom prst="rect">
            <a:avLst/>
          </a:prstGeom>
        </p:spPr>
      </p:pic>
      <p:pic>
        <p:nvPicPr>
          <p:cNvPr id="40" name="object 40"/>
          <p:cNvPicPr/>
          <p:nvPr/>
        </p:nvPicPr>
        <p:blipFill>
          <a:blip r:embed="rId21" cstate="print"/>
          <a:stretch>
            <a:fillRect/>
          </a:stretch>
        </p:blipFill>
        <p:spPr>
          <a:xfrm>
            <a:off x="6709545" y="2455423"/>
            <a:ext cx="1548383" cy="1548384"/>
          </a:xfrm>
          <a:prstGeom prst="rect">
            <a:avLst/>
          </a:prstGeom>
        </p:spPr>
      </p:pic>
      <p:pic>
        <p:nvPicPr>
          <p:cNvPr id="41" name="object 41"/>
          <p:cNvPicPr/>
          <p:nvPr/>
        </p:nvPicPr>
        <p:blipFill>
          <a:blip r:embed="rId22" cstate="print"/>
          <a:stretch>
            <a:fillRect/>
          </a:stretch>
        </p:blipFill>
        <p:spPr>
          <a:xfrm>
            <a:off x="9741182" y="2813841"/>
            <a:ext cx="1321307" cy="1075944"/>
          </a:xfrm>
          <a:prstGeom prst="rect">
            <a:avLst/>
          </a:prstGeom>
        </p:spPr>
      </p:pic>
      <p:sp>
        <p:nvSpPr>
          <p:cNvPr id="43" name="object 43"/>
          <p:cNvSpPr txBox="1"/>
          <p:nvPr/>
        </p:nvSpPr>
        <p:spPr>
          <a:xfrm>
            <a:off x="3586985" y="3786996"/>
            <a:ext cx="2115075" cy="2094197"/>
          </a:xfrm>
          <a:prstGeom prst="rect">
            <a:avLst/>
          </a:prstGeom>
        </p:spPr>
        <p:txBody>
          <a:bodyPr vert="horz" wrap="square" lIns="0" tIns="119380" rIns="0" bIns="0" rtlCol="0">
            <a:spAutoFit/>
          </a:bodyPr>
          <a:lstStyle/>
          <a:p>
            <a:pPr marL="299085" indent="-286385">
              <a:lnSpc>
                <a:spcPct val="100000"/>
              </a:lnSpc>
              <a:spcBef>
                <a:spcPts val="940"/>
              </a:spcBef>
              <a:buFont typeface="Wingdings"/>
              <a:buChar char=""/>
              <a:tabLst>
                <a:tab pos="299085" algn="l"/>
              </a:tabLst>
            </a:pPr>
            <a:r>
              <a:rPr lang="en-US" sz="1400" dirty="0">
                <a:latin typeface="Times New Roman" panose="02020603050405020304" pitchFamily="18" charset="0"/>
                <a:cs typeface="Times New Roman" panose="02020603050405020304" pitchFamily="18" charset="0"/>
              </a:rPr>
              <a:t>Communication overhead during federated updates</a:t>
            </a:r>
          </a:p>
          <a:p>
            <a:pPr marL="299085" indent="-286385">
              <a:lnSpc>
                <a:spcPct val="100000"/>
              </a:lnSpc>
              <a:spcBef>
                <a:spcPts val="940"/>
              </a:spcBef>
              <a:buFont typeface="Wingdings"/>
              <a:buChar char=""/>
              <a:tabLst>
                <a:tab pos="299085" algn="l"/>
              </a:tabLst>
            </a:pPr>
            <a:r>
              <a:rPr lang="en-US" sz="1400" dirty="0">
                <a:latin typeface="Times New Roman" panose="02020603050405020304" pitchFamily="18" charset="0"/>
                <a:cs typeface="Times New Roman" panose="02020603050405020304" pitchFamily="18" charset="0"/>
              </a:rPr>
              <a:t>Higher system complexity compared to centralized models</a:t>
            </a:r>
          </a:p>
          <a:p>
            <a:pPr marL="299085" indent="-286385">
              <a:lnSpc>
                <a:spcPct val="100000"/>
              </a:lnSpc>
              <a:spcBef>
                <a:spcPts val="940"/>
              </a:spcBef>
              <a:buFont typeface="Wingdings"/>
              <a:buChar char=""/>
              <a:tabLst>
                <a:tab pos="299085" algn="l"/>
              </a:tabLst>
            </a:pPr>
            <a:r>
              <a:rPr lang="en-US" sz="1400" dirty="0">
                <a:latin typeface="Times New Roman" panose="02020603050405020304" pitchFamily="18" charset="0"/>
                <a:cs typeface="Times New Roman" panose="02020603050405020304" pitchFamily="18" charset="0"/>
              </a:rPr>
              <a:t>Limited dataset size (15 subjects in WESAD)</a:t>
            </a:r>
          </a:p>
        </p:txBody>
      </p:sp>
      <p:sp>
        <p:nvSpPr>
          <p:cNvPr id="46" name="object 46"/>
          <p:cNvSpPr/>
          <p:nvPr/>
        </p:nvSpPr>
        <p:spPr>
          <a:xfrm>
            <a:off x="4073618" y="4545368"/>
            <a:ext cx="59690" cy="0"/>
          </a:xfrm>
          <a:custGeom>
            <a:avLst/>
            <a:gdLst/>
            <a:ahLst/>
            <a:cxnLst/>
            <a:rect l="l" t="t" r="r" b="b"/>
            <a:pathLst>
              <a:path w="59689">
                <a:moveTo>
                  <a:pt x="0" y="0"/>
                </a:moveTo>
                <a:lnTo>
                  <a:pt x="59375" y="0"/>
                </a:lnTo>
              </a:path>
            </a:pathLst>
          </a:custGeom>
          <a:ln w="10129">
            <a:solidFill>
              <a:srgbClr val="F76363"/>
            </a:solidFill>
          </a:ln>
        </p:spPr>
        <p:txBody>
          <a:bodyPr wrap="square" lIns="0" tIns="0" rIns="0" bIns="0" rtlCol="0"/>
          <a:lstStyle/>
          <a:p>
            <a:endParaRPr/>
          </a:p>
        </p:txBody>
      </p:sp>
      <p:sp>
        <p:nvSpPr>
          <p:cNvPr id="47" name="object 43">
            <a:extLst>
              <a:ext uri="{FF2B5EF4-FFF2-40B4-BE49-F238E27FC236}">
                <a16:creationId xmlns:a16="http://schemas.microsoft.com/office/drawing/2014/main" id="{89EC6F52-51D1-D0D5-2B8F-C46508047630}"/>
              </a:ext>
            </a:extLst>
          </p:cNvPr>
          <p:cNvSpPr txBox="1"/>
          <p:nvPr/>
        </p:nvSpPr>
        <p:spPr>
          <a:xfrm>
            <a:off x="6418318" y="3695824"/>
            <a:ext cx="2301240" cy="2190343"/>
          </a:xfrm>
          <a:prstGeom prst="rect">
            <a:avLst/>
          </a:prstGeom>
        </p:spPr>
        <p:txBody>
          <a:bodyPr vert="horz" wrap="square" lIns="0" tIns="119380" rIns="0" bIns="0" rtlCol="0">
            <a:spAutoFit/>
          </a:bodyPr>
          <a:lstStyle/>
          <a:p>
            <a:pPr marL="299085" indent="-286385">
              <a:lnSpc>
                <a:spcPct val="100000"/>
              </a:lnSpc>
              <a:spcBef>
                <a:spcPts val="940"/>
              </a:spcBef>
              <a:buFont typeface="Wingdings"/>
              <a:buChar char=""/>
              <a:tabLst>
                <a:tab pos="299085" algn="l"/>
              </a:tabLst>
            </a:pPr>
            <a:r>
              <a:rPr lang="en-US" sz="1400" dirty="0">
                <a:latin typeface="Times New Roman" panose="02020603050405020304" pitchFamily="18" charset="0"/>
                <a:cs typeface="Times New Roman" panose="02020603050405020304" pitchFamily="18" charset="0"/>
              </a:rPr>
              <a:t>Integration with real wearable devices</a:t>
            </a:r>
          </a:p>
          <a:p>
            <a:pPr marL="299085" indent="-286385">
              <a:lnSpc>
                <a:spcPct val="100000"/>
              </a:lnSpc>
              <a:spcBef>
                <a:spcPts val="940"/>
              </a:spcBef>
              <a:buFont typeface="Wingdings"/>
              <a:buChar char=""/>
              <a:tabLst>
                <a:tab pos="299085" algn="l"/>
              </a:tabLst>
            </a:pPr>
            <a:r>
              <a:rPr lang="en-US" sz="1400" dirty="0">
                <a:latin typeface="Times New Roman" panose="02020603050405020304" pitchFamily="18" charset="0"/>
                <a:cs typeface="Times New Roman" panose="02020603050405020304" pitchFamily="18" charset="0"/>
              </a:rPr>
              <a:t>Expansion to larger healthcare datasets</a:t>
            </a:r>
          </a:p>
          <a:p>
            <a:pPr marL="299085" indent="-286385">
              <a:lnSpc>
                <a:spcPct val="100000"/>
              </a:lnSpc>
              <a:spcBef>
                <a:spcPts val="940"/>
              </a:spcBef>
              <a:buFont typeface="Wingdings"/>
              <a:buChar char=""/>
              <a:tabLst>
                <a:tab pos="299085" algn="l"/>
              </a:tabLst>
            </a:pPr>
            <a:r>
              <a:rPr lang="en-US" sz="1400" dirty="0">
                <a:latin typeface="Times New Roman" panose="02020603050405020304" pitchFamily="18" charset="0"/>
                <a:cs typeface="Times New Roman" panose="02020603050405020304" pitchFamily="18" charset="0"/>
              </a:rPr>
              <a:t>Potential clinical and industrial applications</a:t>
            </a:r>
          </a:p>
          <a:p>
            <a:pPr marL="299085" indent="-286385">
              <a:lnSpc>
                <a:spcPct val="100000"/>
              </a:lnSpc>
              <a:spcBef>
                <a:spcPts val="940"/>
              </a:spcBef>
              <a:buFont typeface="Wingdings"/>
              <a:buChar char=""/>
              <a:tabLst>
                <a:tab pos="299085" algn="l"/>
              </a:tabLst>
            </a:pPr>
            <a:r>
              <a:rPr lang="en-US" sz="1400" dirty="0">
                <a:latin typeface="Times New Roman" panose="02020603050405020304" pitchFamily="18" charset="0"/>
                <a:cs typeface="Times New Roman" panose="02020603050405020304" pitchFamily="18" charset="0"/>
              </a:rPr>
              <a:t>Real-time stress monitoring systems</a:t>
            </a:r>
            <a:endParaRPr lang="en-IN" sz="1400" dirty="0">
              <a:latin typeface="Times New Roman" panose="02020603050405020304" pitchFamily="18" charset="0"/>
              <a:cs typeface="Times New Roman" panose="02020603050405020304" pitchFamily="18" charset="0"/>
            </a:endParaRPr>
          </a:p>
        </p:txBody>
      </p:sp>
      <p:sp>
        <p:nvSpPr>
          <p:cNvPr id="48" name="object 43">
            <a:extLst>
              <a:ext uri="{FF2B5EF4-FFF2-40B4-BE49-F238E27FC236}">
                <a16:creationId xmlns:a16="http://schemas.microsoft.com/office/drawing/2014/main" id="{199D8100-953F-B9E9-D947-2AB340BB6401}"/>
              </a:ext>
            </a:extLst>
          </p:cNvPr>
          <p:cNvSpPr txBox="1"/>
          <p:nvPr/>
        </p:nvSpPr>
        <p:spPr>
          <a:xfrm>
            <a:off x="9272951" y="3713261"/>
            <a:ext cx="2178385" cy="1859483"/>
          </a:xfrm>
          <a:prstGeom prst="rect">
            <a:avLst/>
          </a:prstGeom>
        </p:spPr>
        <p:txBody>
          <a:bodyPr vert="horz" wrap="square" lIns="0" tIns="119380" rIns="0" bIns="0" rtlCol="0">
            <a:spAutoFit/>
          </a:bodyPr>
          <a:lstStyle/>
          <a:p>
            <a:pPr marL="299085" indent="-286385">
              <a:lnSpc>
                <a:spcPct val="100000"/>
              </a:lnSpc>
              <a:spcBef>
                <a:spcPts val="940"/>
              </a:spcBef>
              <a:buFont typeface="Wingdings"/>
              <a:buChar char=""/>
              <a:tabLst>
                <a:tab pos="299085" algn="l"/>
              </a:tabLst>
            </a:pPr>
            <a:r>
              <a:rPr lang="en-US" sz="1400" dirty="0">
                <a:latin typeface="Times New Roman" panose="02020603050405020304" pitchFamily="18" charset="0"/>
                <a:cs typeface="Times New Roman" panose="02020603050405020304" pitchFamily="18" charset="0"/>
              </a:rPr>
              <a:t>Data heterogeneity across users (non-IID data problem)</a:t>
            </a:r>
          </a:p>
          <a:p>
            <a:pPr marL="299085" indent="-286385">
              <a:lnSpc>
                <a:spcPct val="100000"/>
              </a:lnSpc>
              <a:spcBef>
                <a:spcPts val="940"/>
              </a:spcBef>
              <a:buFont typeface="Wingdings"/>
              <a:buChar char=""/>
              <a:tabLst>
                <a:tab pos="299085" algn="l"/>
              </a:tabLst>
            </a:pPr>
            <a:r>
              <a:rPr lang="en-US" sz="1400" dirty="0">
                <a:latin typeface="Times New Roman" panose="02020603050405020304" pitchFamily="18" charset="0"/>
                <a:cs typeface="Times New Roman" panose="02020603050405020304" pitchFamily="18" charset="0"/>
              </a:rPr>
              <a:t>Computational limitations on edge devices</a:t>
            </a:r>
          </a:p>
          <a:p>
            <a:pPr marL="299085" indent="-286385">
              <a:lnSpc>
                <a:spcPct val="100000"/>
              </a:lnSpc>
              <a:spcBef>
                <a:spcPts val="940"/>
              </a:spcBef>
              <a:buFont typeface="Wingdings"/>
              <a:buChar char=""/>
              <a:tabLst>
                <a:tab pos="299085" algn="l"/>
              </a:tabLst>
            </a:pPr>
            <a:r>
              <a:rPr lang="en-US" sz="1400" dirty="0">
                <a:latin typeface="Times New Roman" panose="02020603050405020304" pitchFamily="18" charset="0"/>
                <a:cs typeface="Times New Roman" panose="02020603050405020304" pitchFamily="18" charset="0"/>
              </a:rPr>
              <a:t>Regulatory and compliance challenges</a:t>
            </a:r>
            <a:endParaRPr lang="en-IN" sz="1400" dirty="0">
              <a:latin typeface="Times New Roman" panose="02020603050405020304" pitchFamily="18" charset="0"/>
              <a:cs typeface="Times New Roman" panose="02020603050405020304" pitchFamily="18" charset="0"/>
            </a:endParaRPr>
          </a:p>
        </p:txBody>
      </p:sp>
      <p:sp>
        <p:nvSpPr>
          <p:cNvPr id="49" name="TextBox 48">
            <a:extLst>
              <a:ext uri="{FF2B5EF4-FFF2-40B4-BE49-F238E27FC236}">
                <a16:creationId xmlns:a16="http://schemas.microsoft.com/office/drawing/2014/main" id="{BB62FCFE-9B1D-EBE8-B55F-99B6E5327D57}"/>
              </a:ext>
            </a:extLst>
          </p:cNvPr>
          <p:cNvSpPr txBox="1"/>
          <p:nvPr/>
        </p:nvSpPr>
        <p:spPr>
          <a:xfrm>
            <a:off x="889972" y="3713261"/>
            <a:ext cx="1977635" cy="2462213"/>
          </a:xfrm>
          <a:prstGeom prst="rect">
            <a:avLst/>
          </a:prstGeom>
          <a:noFill/>
        </p:spPr>
        <p:txBody>
          <a:bodyPr wrap="square">
            <a:spAutoFit/>
          </a:bodyPr>
          <a:lstStyle/>
          <a:p>
            <a:pPr marL="285750" indent="-285750">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Strong privacy preservation by keeping raw data local</a:t>
            </a:r>
          </a:p>
          <a:p>
            <a:pPr marL="285750" indent="-285750">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Improved trust through explainable predictions</a:t>
            </a:r>
          </a:p>
          <a:p>
            <a:pPr marL="285750" indent="-285750">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Real-world wearable dataset usage</a:t>
            </a:r>
          </a:p>
          <a:p>
            <a:pPr marL="285750" indent="-285750">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Scalable federated architecture</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219602" y="249159"/>
            <a:ext cx="2172616" cy="584775"/>
          </a:xfrm>
          <a:prstGeom prst="rect">
            <a:avLst/>
          </a:prstGeom>
          <a:noFill/>
        </p:spPr>
        <p:txBody>
          <a:bodyPr wrap="square" rtlCol="0">
            <a:spAutoFit/>
          </a:bodyPr>
          <a:lstStyle/>
          <a:p>
            <a:r>
              <a:rPr lang="en-US" sz="3200" b="1" dirty="0">
                <a:solidFill>
                  <a:srgbClr val="46B0FA"/>
                </a:solidFill>
                <a:latin typeface="Times New Roman" panose="02020603050405020304" pitchFamily="18" charset="0"/>
                <a:cs typeface="Times New Roman" panose="02020603050405020304" pitchFamily="18" charset="0"/>
              </a:rPr>
              <a:t>Objectives</a:t>
            </a:r>
            <a:endParaRPr lang="en-IN" sz="3200" b="1" dirty="0">
              <a:solidFill>
                <a:srgbClr val="46B0FA"/>
              </a:solidFill>
              <a:latin typeface="Times New Roman" panose="02020603050405020304" pitchFamily="18" charset="0"/>
              <a:cs typeface="Times New Roman" panose="02020603050405020304" pitchFamily="18" charset="0"/>
            </a:endParaRPr>
          </a:p>
        </p:txBody>
      </p:sp>
      <p:sp>
        <p:nvSpPr>
          <p:cNvPr id="4" name="object 3">
            <a:extLst>
              <a:ext uri="{FF2B5EF4-FFF2-40B4-BE49-F238E27FC236}">
                <a16:creationId xmlns:a16="http://schemas.microsoft.com/office/drawing/2014/main" id="{8578F879-5CC3-6877-A59B-7FA783B2C5B9}"/>
              </a:ext>
            </a:extLst>
          </p:cNvPr>
          <p:cNvSpPr txBox="1"/>
          <p:nvPr/>
        </p:nvSpPr>
        <p:spPr>
          <a:xfrm>
            <a:off x="483079" y="1181819"/>
            <a:ext cx="11362925" cy="4533549"/>
          </a:xfrm>
          <a:prstGeom prst="rect">
            <a:avLst/>
          </a:prstGeom>
        </p:spPr>
        <p:txBody>
          <a:bodyPr vert="horz" wrap="square" lIns="0" tIns="12700" rIns="0" bIns="0" rtlCol="0">
            <a:spAutoFit/>
          </a:bodyPr>
          <a:lstStyle/>
          <a:p>
            <a:pPr>
              <a:lnSpc>
                <a:spcPct val="150000"/>
              </a:lnSpc>
            </a:pPr>
            <a:r>
              <a:rPr lang="en-US" b="1" dirty="0">
                <a:solidFill>
                  <a:srgbClr val="FF0000"/>
                </a:solidFill>
                <a:latin typeface="Times New Roman" panose="02020603050405020304" pitchFamily="18" charset="0"/>
                <a:cs typeface="Times New Roman" panose="02020603050405020304" pitchFamily="18" charset="0"/>
              </a:rPr>
              <a:t>Main Objective</a:t>
            </a:r>
          </a:p>
          <a:p>
            <a:pPr>
              <a:lnSpc>
                <a:spcPct val="150000"/>
              </a:lnSpc>
            </a:pPr>
            <a:r>
              <a:rPr lang="en-US" dirty="0">
                <a:latin typeface="Times New Roman" panose="02020603050405020304" pitchFamily="18" charset="0"/>
                <a:cs typeface="Times New Roman" panose="02020603050405020304" pitchFamily="18" charset="0"/>
              </a:rPr>
              <a:t>To design and implement a privacy-preserving and explainable federated learning framework for multimodal </a:t>
            </a:r>
            <a:r>
              <a:rPr lang="en-US" dirty="0" err="1">
                <a:latin typeface="Times New Roman" panose="02020603050405020304" pitchFamily="18" charset="0"/>
                <a:cs typeface="Times New Roman" panose="02020603050405020304" pitchFamily="18" charset="0"/>
              </a:rPr>
              <a:t>biosignal</a:t>
            </a:r>
            <a:r>
              <a:rPr lang="en-US" dirty="0">
                <a:latin typeface="Times New Roman" panose="02020603050405020304" pitchFamily="18" charset="0"/>
                <a:cs typeface="Times New Roman" panose="02020603050405020304" pitchFamily="18" charset="0"/>
              </a:rPr>
              <a:t>-based affect detection using wearable data.</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b="1" dirty="0">
                <a:solidFill>
                  <a:srgbClr val="FF0000"/>
                </a:solidFill>
                <a:latin typeface="Times New Roman" panose="02020603050405020304" pitchFamily="18" charset="0"/>
                <a:cs typeface="Times New Roman" panose="02020603050405020304" pitchFamily="18" charset="0"/>
              </a:rPr>
              <a:t>Specific Objectives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preprocess and segment physiological signals into structured learning inputs.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learn compact and meaningful feature representations using deep learning techniques.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implement federated learning for collaborative model training.</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ensure raw data never leaves the client device.</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integrate explainable AI methods for interpretable predictions.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evaluate performance, convergence, and privacy trade-offs.</a:t>
            </a:r>
          </a:p>
        </p:txBody>
      </p:sp>
    </p:spTree>
    <p:extLst>
      <p:ext uri="{BB962C8B-B14F-4D97-AF65-F5344CB8AC3E}">
        <p14:creationId xmlns:p14="http://schemas.microsoft.com/office/powerpoint/2010/main" val="2314005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93144" y="1276904"/>
            <a:ext cx="11300460" cy="4949047"/>
          </a:xfrm>
          <a:prstGeom prst="rect">
            <a:avLst/>
          </a:prstGeom>
        </p:spPr>
        <p:txBody>
          <a:bodyPr vert="horz" wrap="square" lIns="0" tIns="12700" rIns="0" bIns="0" rtlCol="0">
            <a:spAutoFit/>
          </a:bodyPr>
          <a:lstStyle/>
          <a:p>
            <a:pPr marL="298450" marR="5080" indent="-285750" algn="just">
              <a:lnSpc>
                <a:spcPct val="150000"/>
              </a:lnSpc>
              <a:spcBef>
                <a:spcPts val="5"/>
              </a:spcBef>
              <a:buFont typeface="Arial" panose="020B0604020202020204" pitchFamily="34" charset="0"/>
              <a:buChar char="•"/>
            </a:pPr>
            <a:r>
              <a:rPr lang="en-US" dirty="0">
                <a:latin typeface="Times New Roman"/>
                <a:cs typeface="Times New Roman"/>
              </a:rPr>
              <a:t>Data Collection: Use WESAD dataset containing multimodal physiological signals (ECG, EDA, ACC, etc.).</a:t>
            </a:r>
          </a:p>
          <a:p>
            <a:pPr marL="298450" marR="5080" indent="-285750" algn="just">
              <a:lnSpc>
                <a:spcPct val="150000"/>
              </a:lnSpc>
              <a:spcBef>
                <a:spcPts val="5"/>
              </a:spcBef>
              <a:buFont typeface="Arial" panose="020B0604020202020204" pitchFamily="34" charset="0"/>
              <a:buChar char="•"/>
            </a:pPr>
            <a:r>
              <a:rPr lang="en-US" dirty="0">
                <a:latin typeface="Times New Roman"/>
                <a:cs typeface="Times New Roman"/>
              </a:rPr>
              <a:t>Preprocessing: Filter noise, normalize signals, and create fixed-length overlapping windows.</a:t>
            </a:r>
          </a:p>
          <a:p>
            <a:pPr marL="298450" marR="5080" indent="-285750" algn="just">
              <a:lnSpc>
                <a:spcPct val="150000"/>
              </a:lnSpc>
              <a:spcBef>
                <a:spcPts val="5"/>
              </a:spcBef>
              <a:buFont typeface="Arial" panose="020B0604020202020204" pitchFamily="34" charset="0"/>
              <a:buChar char="•"/>
            </a:pPr>
            <a:r>
              <a:rPr lang="en-US" dirty="0">
                <a:latin typeface="Times New Roman"/>
                <a:cs typeface="Times New Roman"/>
              </a:rPr>
              <a:t>Representation Learning: Train autoencoders to reduce dimensionality and extract latent features.</a:t>
            </a:r>
          </a:p>
          <a:p>
            <a:pPr marL="298450" marR="5080" indent="-285750" algn="just">
              <a:lnSpc>
                <a:spcPct val="150000"/>
              </a:lnSpc>
              <a:spcBef>
                <a:spcPts val="5"/>
              </a:spcBef>
              <a:buFont typeface="Arial" panose="020B0604020202020204" pitchFamily="34" charset="0"/>
              <a:buChar char="•"/>
            </a:pPr>
            <a:r>
              <a:rPr lang="en-US" dirty="0">
                <a:latin typeface="Times New Roman"/>
                <a:cs typeface="Times New Roman"/>
              </a:rPr>
              <a:t>Federated Setup:</a:t>
            </a:r>
          </a:p>
          <a:p>
            <a:pPr marL="755650" marR="5080" lvl="1" indent="-285750" algn="just">
              <a:lnSpc>
                <a:spcPct val="150000"/>
              </a:lnSpc>
              <a:spcBef>
                <a:spcPts val="5"/>
              </a:spcBef>
              <a:buFont typeface="Wingdings" panose="05000000000000000000" pitchFamily="2" charset="2"/>
              <a:buChar char="q"/>
            </a:pPr>
            <a:r>
              <a:rPr lang="en-US" dirty="0">
                <a:latin typeface="Times New Roman"/>
                <a:cs typeface="Times New Roman"/>
              </a:rPr>
              <a:t>Each subject is treated as a federated client.</a:t>
            </a:r>
          </a:p>
          <a:p>
            <a:pPr marL="755650" marR="5080" lvl="1" indent="-285750" algn="just">
              <a:lnSpc>
                <a:spcPct val="150000"/>
              </a:lnSpc>
              <a:spcBef>
                <a:spcPts val="5"/>
              </a:spcBef>
              <a:buFont typeface="Wingdings" panose="05000000000000000000" pitchFamily="2" charset="2"/>
              <a:buChar char="q"/>
            </a:pPr>
            <a:r>
              <a:rPr lang="en-US" dirty="0">
                <a:latin typeface="Times New Roman"/>
                <a:cs typeface="Times New Roman"/>
              </a:rPr>
              <a:t>Clients train models locally.</a:t>
            </a:r>
          </a:p>
          <a:p>
            <a:pPr marL="755650" marR="5080" lvl="1" indent="-285750" algn="just">
              <a:lnSpc>
                <a:spcPct val="150000"/>
              </a:lnSpc>
              <a:spcBef>
                <a:spcPts val="5"/>
              </a:spcBef>
              <a:buFont typeface="Wingdings" panose="05000000000000000000" pitchFamily="2" charset="2"/>
              <a:buChar char="q"/>
            </a:pPr>
            <a:r>
              <a:rPr lang="en-US" dirty="0">
                <a:latin typeface="Times New Roman"/>
                <a:cs typeface="Times New Roman"/>
              </a:rPr>
              <a:t>Only model weights are sent to the central server.</a:t>
            </a:r>
          </a:p>
          <a:p>
            <a:pPr marL="298450" marR="5080" indent="-285750" algn="just">
              <a:lnSpc>
                <a:spcPct val="150000"/>
              </a:lnSpc>
              <a:spcBef>
                <a:spcPts val="5"/>
              </a:spcBef>
              <a:buFont typeface="Arial" panose="020B0604020202020204" pitchFamily="34" charset="0"/>
              <a:buChar char="•"/>
            </a:pPr>
            <a:r>
              <a:rPr lang="en-US" dirty="0">
                <a:latin typeface="Times New Roman"/>
                <a:cs typeface="Times New Roman"/>
              </a:rPr>
              <a:t>Model Aggregation: Use </a:t>
            </a:r>
            <a:r>
              <a:rPr lang="en-US" dirty="0" err="1">
                <a:latin typeface="Times New Roman"/>
                <a:cs typeface="Times New Roman"/>
              </a:rPr>
              <a:t>FedAvg</a:t>
            </a:r>
            <a:r>
              <a:rPr lang="en-US" dirty="0">
                <a:latin typeface="Times New Roman"/>
                <a:cs typeface="Times New Roman"/>
              </a:rPr>
              <a:t> or </a:t>
            </a:r>
            <a:r>
              <a:rPr lang="en-US" dirty="0" err="1">
                <a:latin typeface="Times New Roman"/>
                <a:cs typeface="Times New Roman"/>
              </a:rPr>
              <a:t>FedProx</a:t>
            </a:r>
            <a:r>
              <a:rPr lang="en-US" dirty="0">
                <a:latin typeface="Times New Roman"/>
                <a:cs typeface="Times New Roman"/>
              </a:rPr>
              <a:t> for global model update.</a:t>
            </a:r>
          </a:p>
          <a:p>
            <a:pPr marL="298450" marR="5080" indent="-285750" algn="just">
              <a:lnSpc>
                <a:spcPct val="150000"/>
              </a:lnSpc>
              <a:spcBef>
                <a:spcPts val="5"/>
              </a:spcBef>
              <a:buFont typeface="Arial" panose="020B0604020202020204" pitchFamily="34" charset="0"/>
              <a:buChar char="•"/>
            </a:pPr>
            <a:r>
              <a:rPr lang="en-US" dirty="0">
                <a:latin typeface="Times New Roman"/>
                <a:cs typeface="Times New Roman"/>
              </a:rPr>
              <a:t>Explainability Layer:</a:t>
            </a:r>
          </a:p>
          <a:p>
            <a:pPr marL="755650" marR="5080" lvl="1" indent="-285750" algn="just">
              <a:lnSpc>
                <a:spcPct val="150000"/>
              </a:lnSpc>
              <a:spcBef>
                <a:spcPts val="5"/>
              </a:spcBef>
              <a:buFont typeface="Wingdings" panose="05000000000000000000" pitchFamily="2" charset="2"/>
              <a:buChar char="q"/>
            </a:pPr>
            <a:r>
              <a:rPr lang="en-US" dirty="0">
                <a:latin typeface="Times New Roman"/>
                <a:cs typeface="Times New Roman"/>
              </a:rPr>
              <a:t>Generate local explanations for predictions.</a:t>
            </a:r>
          </a:p>
          <a:p>
            <a:pPr marL="755650" marR="5080" lvl="1" indent="-285750" algn="just">
              <a:lnSpc>
                <a:spcPct val="150000"/>
              </a:lnSpc>
              <a:spcBef>
                <a:spcPts val="5"/>
              </a:spcBef>
              <a:buFont typeface="Wingdings" panose="05000000000000000000" pitchFamily="2" charset="2"/>
              <a:buChar char="q"/>
            </a:pPr>
            <a:r>
              <a:rPr lang="en-US" dirty="0">
                <a:latin typeface="Times New Roman"/>
                <a:cs typeface="Times New Roman"/>
              </a:rPr>
              <a:t>Share only aggregated or privacy-protected explanation summaries.</a:t>
            </a:r>
          </a:p>
          <a:p>
            <a:pPr marL="298450" marR="5080" indent="-285750" algn="just">
              <a:lnSpc>
                <a:spcPct val="150000"/>
              </a:lnSpc>
              <a:spcBef>
                <a:spcPts val="5"/>
              </a:spcBef>
              <a:buFont typeface="Arial" panose="020B0604020202020204" pitchFamily="34" charset="0"/>
              <a:buChar char="•"/>
            </a:pPr>
            <a:r>
              <a:rPr lang="en-US" dirty="0">
                <a:latin typeface="Times New Roman"/>
                <a:cs typeface="Times New Roman"/>
              </a:rPr>
              <a:t>Evaluation: Compare federated model performance with centralized baseline.</a:t>
            </a:r>
            <a:endParaRPr dirty="0">
              <a:latin typeface="Times New Roman"/>
              <a:cs typeface="Times New Roman"/>
            </a:endParaRPr>
          </a:p>
        </p:txBody>
      </p:sp>
      <p:sp>
        <p:nvSpPr>
          <p:cNvPr id="5" name="object 2">
            <a:extLst>
              <a:ext uri="{FF2B5EF4-FFF2-40B4-BE49-F238E27FC236}">
                <a16:creationId xmlns:a16="http://schemas.microsoft.com/office/drawing/2014/main" id="{E3BCB41A-81FF-124E-7276-AABDAF68BE06}"/>
              </a:ext>
            </a:extLst>
          </p:cNvPr>
          <p:cNvSpPr txBox="1">
            <a:spLocks noGrp="1"/>
          </p:cNvSpPr>
          <p:nvPr>
            <p:ph type="title"/>
          </p:nvPr>
        </p:nvSpPr>
        <p:spPr>
          <a:xfrm>
            <a:off x="164459" y="97563"/>
            <a:ext cx="2414279" cy="628650"/>
          </a:xfrm>
          <a:prstGeom prst="rect">
            <a:avLst/>
          </a:prstGeom>
        </p:spPr>
        <p:txBody>
          <a:bodyPr vert="horz" wrap="square" lIns="0" tIns="135128" rIns="0" bIns="0" rtlCol="0">
            <a:spAutoFit/>
          </a:bodyPr>
          <a:lstStyle/>
          <a:p>
            <a:pPr marL="104139">
              <a:lnSpc>
                <a:spcPct val="100000"/>
              </a:lnSpc>
              <a:spcBef>
                <a:spcPts val="100"/>
              </a:spcBef>
            </a:pPr>
            <a:r>
              <a:rPr spc="-10" dirty="0"/>
              <a:t>Methodology</a:t>
            </a:r>
          </a:p>
        </p:txBody>
      </p:sp>
      <p:sp>
        <p:nvSpPr>
          <p:cNvPr id="6" name="AutoShape 2" descr="Iterative Waterfall Model - Software Engineering - GeeksforGeeks">
            <a:extLst>
              <a:ext uri="{FF2B5EF4-FFF2-40B4-BE49-F238E27FC236}">
                <a16:creationId xmlns:a16="http://schemas.microsoft.com/office/drawing/2014/main" id="{131140CD-3D91-E8E6-21B6-AE23890DF82F}"/>
              </a:ext>
            </a:extLst>
          </p:cNvPr>
          <p:cNvSpPr>
            <a:spLocks noChangeAspect="1" noChangeArrowheads="1"/>
          </p:cNvSpPr>
          <p:nvPr/>
        </p:nvSpPr>
        <p:spPr bwMode="auto">
          <a:xfrm>
            <a:off x="3657600" y="3276600"/>
            <a:ext cx="2590800" cy="2590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B5FF69E5-5726-4385-FE01-13CF6A37ECCD}"/>
              </a:ext>
            </a:extLst>
          </p:cNvPr>
          <p:cNvSpPr txBox="1"/>
          <p:nvPr/>
        </p:nvSpPr>
        <p:spPr>
          <a:xfrm>
            <a:off x="317556" y="708977"/>
            <a:ext cx="1114079" cy="461665"/>
          </a:xfrm>
          <a:prstGeom prst="rect">
            <a:avLst/>
          </a:prstGeom>
          <a:noFill/>
        </p:spPr>
        <p:txBody>
          <a:bodyPr wrap="squar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Steps:</a:t>
            </a:r>
            <a:endParaRPr lang="en-US" sz="2400" b="1" dirty="0">
              <a:solidFill>
                <a:srgbClr val="FF000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A49CA0EB-F9DE-D85C-CACA-3D4ED6C73410}"/>
              </a:ext>
            </a:extLst>
          </p:cNvPr>
          <p:cNvSpPr txBox="1"/>
          <p:nvPr/>
        </p:nvSpPr>
        <p:spPr>
          <a:xfrm>
            <a:off x="504962" y="1257294"/>
            <a:ext cx="11465365" cy="483081"/>
          </a:xfrm>
          <a:prstGeom prst="rect">
            <a:avLst/>
          </a:prstGeom>
          <a:noFill/>
        </p:spPr>
        <p:txBody>
          <a:bodyPr wrap="square" rtlCol="0">
            <a:spAutoFit/>
          </a:bodyPr>
          <a:lstStyle/>
          <a:p>
            <a:pPr marL="342900" indent="-342900" algn="just">
              <a:lnSpc>
                <a:spcPts val="3460"/>
              </a:lnSpc>
              <a:spcAft>
                <a:spcPts val="800"/>
              </a:spcAft>
              <a:buFont typeface="+mj-lt"/>
              <a:buAutoNum type="arabicPeriod"/>
            </a:pPr>
            <a:r>
              <a:rPr lang="en-US" kern="100" dirty="0">
                <a:latin typeface="Times New Roman" panose="02020603050405020304" pitchFamily="18" charset="0"/>
                <a:ea typeface="Aptos" panose="020B0004020202020204" pitchFamily="34" charset="0"/>
                <a:cs typeface="Times New Roman" panose="02020603050405020304" pitchFamily="18" charset="0"/>
              </a:rPr>
              <a:t>Put a diagram here</a:t>
            </a:r>
          </a:p>
        </p:txBody>
      </p:sp>
    </p:spTree>
    <p:extLst>
      <p:ext uri="{BB962C8B-B14F-4D97-AF65-F5344CB8AC3E}">
        <p14:creationId xmlns:p14="http://schemas.microsoft.com/office/powerpoint/2010/main" val="3561563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B5FF69E5-5726-4385-FE01-13CF6A37ECCD}"/>
              </a:ext>
            </a:extLst>
          </p:cNvPr>
          <p:cNvSpPr txBox="1"/>
          <p:nvPr/>
        </p:nvSpPr>
        <p:spPr>
          <a:xfrm>
            <a:off x="322342" y="448991"/>
            <a:ext cx="1548988" cy="492443"/>
          </a:xfrm>
          <a:prstGeom prst="rect">
            <a:avLst/>
          </a:prstGeom>
          <a:noFill/>
        </p:spPr>
        <p:txBody>
          <a:bodyPr wrap="square" rtlCol="0">
            <a:spAutoFit/>
          </a:bodyPr>
          <a:lstStyle/>
          <a:p>
            <a:r>
              <a:rPr lang="en-US" sz="2600" b="1" dirty="0">
                <a:solidFill>
                  <a:srgbClr val="FF0000"/>
                </a:solidFill>
                <a:latin typeface="Times New Roman" panose="02020603050405020304" pitchFamily="18" charset="0"/>
                <a:cs typeface="Times New Roman" panose="02020603050405020304" pitchFamily="18" charset="0"/>
              </a:rPr>
              <a:t>Timeline:</a:t>
            </a:r>
          </a:p>
        </p:txBody>
      </p:sp>
      <p:pic>
        <p:nvPicPr>
          <p:cNvPr id="4" name="Picture 3">
            <a:extLst>
              <a:ext uri="{FF2B5EF4-FFF2-40B4-BE49-F238E27FC236}">
                <a16:creationId xmlns:a16="http://schemas.microsoft.com/office/drawing/2014/main" id="{ACB6CD4B-6D0A-363B-2D68-9019F8C7468B}"/>
              </a:ext>
            </a:extLst>
          </p:cNvPr>
          <p:cNvPicPr>
            <a:picLocks noChangeAspect="1"/>
          </p:cNvPicPr>
          <p:nvPr/>
        </p:nvPicPr>
        <p:blipFill>
          <a:blip r:embed="rId2"/>
          <a:stretch>
            <a:fillRect/>
          </a:stretch>
        </p:blipFill>
        <p:spPr>
          <a:xfrm>
            <a:off x="1842924" y="1213709"/>
            <a:ext cx="8506152" cy="4430582"/>
          </a:xfrm>
          <a:prstGeom prst="rect">
            <a:avLst/>
          </a:prstGeom>
        </p:spPr>
      </p:pic>
    </p:spTree>
    <p:extLst>
      <p:ext uri="{BB962C8B-B14F-4D97-AF65-F5344CB8AC3E}">
        <p14:creationId xmlns:p14="http://schemas.microsoft.com/office/powerpoint/2010/main" val="579667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212083" y="344902"/>
            <a:ext cx="2217081" cy="584775"/>
          </a:xfrm>
          <a:prstGeom prst="rect">
            <a:avLst/>
          </a:prstGeom>
          <a:noFill/>
        </p:spPr>
        <p:txBody>
          <a:bodyPr wrap="square" rtlCol="0">
            <a:spAutoFit/>
          </a:bodyPr>
          <a:lstStyle/>
          <a:p>
            <a:r>
              <a:rPr lang="en-IN" sz="3200" b="1" dirty="0">
                <a:solidFill>
                  <a:srgbClr val="46B0FA"/>
                </a:solidFill>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1B478A44-3897-F1C8-A872-38B83F885F03}"/>
              </a:ext>
            </a:extLst>
          </p:cNvPr>
          <p:cNvSpPr txBox="1"/>
          <p:nvPr/>
        </p:nvSpPr>
        <p:spPr>
          <a:xfrm>
            <a:off x="415636" y="1034473"/>
            <a:ext cx="11231418" cy="5444054"/>
          </a:xfrm>
          <a:prstGeom prst="rect">
            <a:avLst/>
          </a:prstGeom>
          <a:noFill/>
        </p:spPr>
        <p:txBody>
          <a:bodyPr wrap="square" rtlCol="0">
            <a:spAutoFit/>
          </a:bodyPr>
          <a:lstStyle/>
          <a:p>
            <a:pPr algn="just">
              <a:lnSpc>
                <a:spcPct val="150000"/>
              </a:lnSpc>
            </a:pPr>
            <a:r>
              <a:rPr lang="en-US" i="1" dirty="0">
                <a:latin typeface="Times New Roman" panose="02020603050405020304" pitchFamily="18" charset="0"/>
                <a:cs typeface="Times New Roman" panose="02020603050405020304" pitchFamily="18" charset="0"/>
              </a:rPr>
              <a:t>[1] Schmidt, P.; Reiss, A.; </a:t>
            </a:r>
            <a:r>
              <a:rPr lang="en-US" i="1" dirty="0" err="1">
                <a:latin typeface="Times New Roman" panose="02020603050405020304" pitchFamily="18" charset="0"/>
                <a:cs typeface="Times New Roman" panose="02020603050405020304" pitchFamily="18" charset="0"/>
              </a:rPr>
              <a:t>Duerichen</a:t>
            </a:r>
            <a:r>
              <a:rPr lang="en-US" i="1" dirty="0">
                <a:latin typeface="Times New Roman" panose="02020603050405020304" pitchFamily="18" charset="0"/>
                <a:cs typeface="Times New Roman" panose="02020603050405020304" pitchFamily="18" charset="0"/>
              </a:rPr>
              <a:t>, R.; Marberger, C.; Van </a:t>
            </a:r>
            <a:r>
              <a:rPr lang="en-US" i="1" dirty="0" err="1">
                <a:latin typeface="Times New Roman" panose="02020603050405020304" pitchFamily="18" charset="0"/>
                <a:cs typeface="Times New Roman" panose="02020603050405020304" pitchFamily="18" charset="0"/>
              </a:rPr>
              <a:t>Laerhoven</a:t>
            </a:r>
            <a:r>
              <a:rPr lang="en-US" i="1" dirty="0">
                <a:latin typeface="Times New Roman" panose="02020603050405020304" pitchFamily="18" charset="0"/>
                <a:cs typeface="Times New Roman" panose="02020603050405020304" pitchFamily="18" charset="0"/>
              </a:rPr>
              <a:t>, K. Introducing WESAD: A Multimodal Dataset for Wearable Stress and Affect Detection. In Proceedings of the 20th ACM International Conference on Multimodal Interaction (ICMI), Boulder, CO, USA, 2018, pp. 400–408. </a:t>
            </a:r>
            <a:r>
              <a:rPr lang="en-US" i="1" dirty="0">
                <a:latin typeface="Times New Roman" panose="02020603050405020304" pitchFamily="18" charset="0"/>
                <a:cs typeface="Times New Roman" panose="02020603050405020304" pitchFamily="18" charset="0"/>
                <a:hlinkClick r:id="rId2"/>
              </a:rPr>
              <a:t>https://doi.org/10.1145/3242969.3242985</a:t>
            </a:r>
            <a:endParaRPr lang="en-US" i="1" dirty="0">
              <a:latin typeface="Times New Roman" panose="02020603050405020304" pitchFamily="18" charset="0"/>
              <a:cs typeface="Times New Roman" panose="02020603050405020304" pitchFamily="18" charset="0"/>
            </a:endParaRPr>
          </a:p>
          <a:p>
            <a:pPr algn="just">
              <a:lnSpc>
                <a:spcPct val="150000"/>
              </a:lnSpc>
            </a:pPr>
            <a:r>
              <a:rPr lang="en-US" i="1" dirty="0">
                <a:latin typeface="Times New Roman" panose="02020603050405020304" pitchFamily="18" charset="0"/>
                <a:cs typeface="Times New Roman" panose="02020603050405020304" pitchFamily="18" charset="0"/>
              </a:rPr>
              <a:t>[2] McMahan, B.; Moore, E.; Ramage, D.; Hampson, S.; </a:t>
            </a:r>
            <a:r>
              <a:rPr lang="en-US" i="1" dirty="0" err="1">
                <a:latin typeface="Times New Roman" panose="02020603050405020304" pitchFamily="18" charset="0"/>
                <a:cs typeface="Times New Roman" panose="02020603050405020304" pitchFamily="18" charset="0"/>
              </a:rPr>
              <a:t>Arcas</a:t>
            </a:r>
            <a:r>
              <a:rPr lang="en-US" i="1" dirty="0">
                <a:latin typeface="Times New Roman" panose="02020603050405020304" pitchFamily="18" charset="0"/>
                <a:cs typeface="Times New Roman" panose="02020603050405020304" pitchFamily="18" charset="0"/>
              </a:rPr>
              <a:t>, B.A.Y. Communication-Efficient Learning of Deep Networks from Decentralized Data. In Proceedings of the 20th International Conference on Artificial Intelligence and Statistics (AISTATS), Fort Lauderdale, FL, USA, 2017, pp. 1273–1282.</a:t>
            </a:r>
          </a:p>
          <a:p>
            <a:pPr algn="just">
              <a:lnSpc>
                <a:spcPct val="150000"/>
              </a:lnSpc>
            </a:pPr>
            <a:r>
              <a:rPr lang="en-US" i="1" dirty="0">
                <a:latin typeface="Times New Roman" panose="02020603050405020304" pitchFamily="18" charset="0"/>
                <a:cs typeface="Times New Roman" panose="02020603050405020304" pitchFamily="18" charset="0"/>
              </a:rPr>
              <a:t>[3] Li, T.; Sahu, A.K.; Talwalkar, A.; Smith, V. Federated Optimization in Heterogeneous Networks. In Proceedings of Machine Learning and Systems (</a:t>
            </a:r>
            <a:r>
              <a:rPr lang="en-US" i="1" dirty="0" err="1">
                <a:latin typeface="Times New Roman" panose="02020603050405020304" pitchFamily="18" charset="0"/>
                <a:cs typeface="Times New Roman" panose="02020603050405020304" pitchFamily="18" charset="0"/>
              </a:rPr>
              <a:t>MLSys</a:t>
            </a:r>
            <a:r>
              <a:rPr lang="en-US" i="1" dirty="0">
                <a:latin typeface="Times New Roman" panose="02020603050405020304" pitchFamily="18" charset="0"/>
                <a:cs typeface="Times New Roman" panose="02020603050405020304" pitchFamily="18" charset="0"/>
              </a:rPr>
              <a:t>), Austin, TX, USA, 2020, pp. 429–450.</a:t>
            </a:r>
          </a:p>
          <a:p>
            <a:pPr algn="just">
              <a:lnSpc>
                <a:spcPct val="150000"/>
              </a:lnSpc>
            </a:pPr>
            <a:r>
              <a:rPr lang="en-US" i="1" dirty="0">
                <a:latin typeface="Times New Roman" panose="02020603050405020304" pitchFamily="18" charset="0"/>
                <a:cs typeface="Times New Roman" panose="02020603050405020304" pitchFamily="18" charset="0"/>
              </a:rPr>
              <a:t>[4] Lundberg, S.M.; Lee, S.I. A Unified Approach to Interpreting Model Predictions. In Advances in Neural Information Processing Systems (</a:t>
            </a:r>
            <a:r>
              <a:rPr lang="en-US" i="1" dirty="0" err="1">
                <a:latin typeface="Times New Roman" panose="02020603050405020304" pitchFamily="18" charset="0"/>
                <a:cs typeface="Times New Roman" panose="02020603050405020304" pitchFamily="18" charset="0"/>
              </a:rPr>
              <a:t>NeurIPS</a:t>
            </a:r>
            <a:r>
              <a:rPr lang="en-US" i="1" dirty="0">
                <a:latin typeface="Times New Roman" panose="02020603050405020304" pitchFamily="18" charset="0"/>
                <a:cs typeface="Times New Roman" panose="02020603050405020304" pitchFamily="18" charset="0"/>
              </a:rPr>
              <a:t>), Long Beach, CA, USA, 2017, pp. 4765–4774.</a:t>
            </a:r>
          </a:p>
          <a:p>
            <a:pPr algn="just">
              <a:lnSpc>
                <a:spcPct val="150000"/>
              </a:lnSpc>
            </a:pPr>
            <a:r>
              <a:rPr lang="en-US" i="1" dirty="0">
                <a:latin typeface="Times New Roman" panose="02020603050405020304" pitchFamily="18" charset="0"/>
                <a:cs typeface="Times New Roman" panose="02020603050405020304" pitchFamily="18" charset="0"/>
              </a:rPr>
              <a:t>[5] Selvaraju, R.R.; Cogswell, M.; Das, A.; </a:t>
            </a:r>
            <a:r>
              <a:rPr lang="en-US" i="1" dirty="0" err="1">
                <a:latin typeface="Times New Roman" panose="02020603050405020304" pitchFamily="18" charset="0"/>
                <a:cs typeface="Times New Roman" panose="02020603050405020304" pitchFamily="18" charset="0"/>
              </a:rPr>
              <a:t>Vedantam</a:t>
            </a:r>
            <a:r>
              <a:rPr lang="en-US" i="1" dirty="0">
                <a:latin typeface="Times New Roman" panose="02020603050405020304" pitchFamily="18" charset="0"/>
                <a:cs typeface="Times New Roman" panose="02020603050405020304" pitchFamily="18" charset="0"/>
              </a:rPr>
              <a:t>, R.; Parikh, D.; Batra, D. Grad-CAM: Visual Explanations from Deep Networks via Gradient-Based Localization. In Proceedings of the IEEE International Conference on Computer Vision (ICCV), Venice, Italy, 2017, pp. 618–626. https://doi.org/10.1109/ICCV.2017.74</a:t>
            </a:r>
          </a:p>
        </p:txBody>
      </p:sp>
    </p:spTree>
    <p:extLst>
      <p:ext uri="{BB962C8B-B14F-4D97-AF65-F5344CB8AC3E}">
        <p14:creationId xmlns:p14="http://schemas.microsoft.com/office/powerpoint/2010/main" val="1359081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9D82EA-6098-704F-AD4D-D13A499C492D}"/>
              </a:ext>
            </a:extLst>
          </p:cNvPr>
          <p:cNvSpPr txBox="1"/>
          <p:nvPr/>
        </p:nvSpPr>
        <p:spPr>
          <a:xfrm>
            <a:off x="3843247" y="3601496"/>
            <a:ext cx="4505506" cy="1200329"/>
          </a:xfrm>
          <a:prstGeom prst="rect">
            <a:avLst/>
          </a:prstGeom>
          <a:noFill/>
        </p:spPr>
        <p:txBody>
          <a:bodyPr wrap="square" rtlCol="0">
            <a:spAutoFit/>
          </a:bodyPr>
          <a:lstStyle/>
          <a:p>
            <a:pPr algn="ctr"/>
            <a:r>
              <a:rPr lang="en-US" sz="7200" b="1" dirty="0">
                <a:solidFill>
                  <a:srgbClr val="46B0FA"/>
                </a:solidFill>
                <a:latin typeface="Times New Roman" panose="02020603050405020304" pitchFamily="18" charset="0"/>
                <a:cs typeface="Times New Roman" panose="02020603050405020304" pitchFamily="18" charset="0"/>
              </a:rPr>
              <a:t>Thank You</a:t>
            </a:r>
            <a:endParaRPr lang="en-IN" sz="7200" b="1" dirty="0">
              <a:solidFill>
                <a:srgbClr val="46B0FA"/>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B7FBB1AB-6227-0A49-9677-D759BB97E908}"/>
              </a:ext>
            </a:extLst>
          </p:cNvPr>
          <p:cNvSpPr/>
          <p:nvPr/>
        </p:nvSpPr>
        <p:spPr>
          <a:xfrm>
            <a:off x="10668000" y="150471"/>
            <a:ext cx="1381246" cy="6829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A picture containing text, clipart&#10;&#10;Description automatically generated">
            <a:extLst>
              <a:ext uri="{FF2B5EF4-FFF2-40B4-BE49-F238E27FC236}">
                <a16:creationId xmlns:a16="http://schemas.microsoft.com/office/drawing/2014/main" id="{B3B91EF5-66BF-4A12-80C1-98869846E0D6}"/>
              </a:ext>
            </a:extLst>
          </p:cNvPr>
          <p:cNvPicPr>
            <a:picLocks noChangeAspect="1"/>
          </p:cNvPicPr>
          <p:nvPr/>
        </p:nvPicPr>
        <p:blipFill>
          <a:blip r:embed="rId2"/>
          <a:stretch>
            <a:fillRect/>
          </a:stretch>
        </p:blipFill>
        <p:spPr>
          <a:xfrm>
            <a:off x="3992880" y="1720483"/>
            <a:ext cx="4206240" cy="1806854"/>
          </a:xfrm>
          <a:prstGeom prst="rect">
            <a:avLst/>
          </a:prstGeom>
        </p:spPr>
      </p:pic>
    </p:spTree>
    <p:extLst>
      <p:ext uri="{BB962C8B-B14F-4D97-AF65-F5344CB8AC3E}">
        <p14:creationId xmlns:p14="http://schemas.microsoft.com/office/powerpoint/2010/main" val="3579348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13370</TotalTime>
  <Words>1141</Words>
  <Application>Microsoft Office PowerPoint</Application>
  <PresentationFormat>Widescreen</PresentationFormat>
  <Paragraphs>107</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Narrow</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S</vt:lpstr>
      <vt:lpstr>PowerPoint Presentation</vt:lpstr>
      <vt:lpstr>Methodology</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Stuti Gandhi</dc:creator>
  <cp:lastModifiedBy>Bansal, Khushi</cp:lastModifiedBy>
  <cp:revision>684</cp:revision>
  <dcterms:created xsi:type="dcterms:W3CDTF">2021-05-06T09:42:21Z</dcterms:created>
  <dcterms:modified xsi:type="dcterms:W3CDTF">2026-02-11T10:52:56Z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ad3be33-4108-4738-9e07-d8656a181486_Enabled">
    <vt:lpwstr>true</vt:lpwstr>
  </property>
  <property fmtid="{D5CDD505-2E9C-101B-9397-08002B2CF9AE}" pid="3" name="MSIP_Label_dad3be33-4108-4738-9e07-d8656a181486_SetDate">
    <vt:lpwstr>2026-02-11T10:19:05Z</vt:lpwstr>
  </property>
  <property fmtid="{D5CDD505-2E9C-101B-9397-08002B2CF9AE}" pid="4" name="MSIP_Label_dad3be33-4108-4738-9e07-d8656a181486_Method">
    <vt:lpwstr>Privileged</vt:lpwstr>
  </property>
  <property fmtid="{D5CDD505-2E9C-101B-9397-08002B2CF9AE}" pid="5" name="MSIP_Label_dad3be33-4108-4738-9e07-d8656a181486_Name">
    <vt:lpwstr>Public No Visual Label</vt:lpwstr>
  </property>
  <property fmtid="{D5CDD505-2E9C-101B-9397-08002B2CF9AE}" pid="6" name="MSIP_Label_dad3be33-4108-4738-9e07-d8656a181486_SiteId">
    <vt:lpwstr>945c199a-83a2-4e80-9f8c-5a91be5752dd</vt:lpwstr>
  </property>
  <property fmtid="{D5CDD505-2E9C-101B-9397-08002B2CF9AE}" pid="7" name="MSIP_Label_dad3be33-4108-4738-9e07-d8656a181486_ActionId">
    <vt:lpwstr>2f683a54-98c2-4ad0-8fa3-0b7ea2d8d898</vt:lpwstr>
  </property>
  <property fmtid="{D5CDD505-2E9C-101B-9397-08002B2CF9AE}" pid="8" name="MSIP_Label_dad3be33-4108-4738-9e07-d8656a181486_ContentBits">
    <vt:lpwstr>0</vt:lpwstr>
  </property>
  <property fmtid="{D5CDD505-2E9C-101B-9397-08002B2CF9AE}" pid="9" name="MSIP_Label_dad3be33-4108-4738-9e07-d8656a181486_Tag">
    <vt:lpwstr>10, 0, 1, 1</vt:lpwstr>
  </property>
</Properties>
</file>